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5" r:id="rId4"/>
  </p:sldMasterIdLst>
  <p:notesMasterIdLst>
    <p:notesMasterId r:id="rId19"/>
  </p:notesMasterIdLst>
  <p:handoutMasterIdLst>
    <p:handoutMasterId r:id="rId20"/>
  </p:handoutMasterIdLst>
  <p:sldIdLst>
    <p:sldId id="338" r:id="rId5"/>
    <p:sldId id="348" r:id="rId6"/>
    <p:sldId id="347" r:id="rId7"/>
    <p:sldId id="265" r:id="rId8"/>
    <p:sldId id="352" r:id="rId9"/>
    <p:sldId id="351" r:id="rId10"/>
    <p:sldId id="350" r:id="rId11"/>
    <p:sldId id="349" r:id="rId12"/>
    <p:sldId id="353" r:id="rId13"/>
    <p:sldId id="355" r:id="rId14"/>
    <p:sldId id="357" r:id="rId15"/>
    <p:sldId id="358" r:id="rId16"/>
    <p:sldId id="359" r:id="rId17"/>
    <p:sldId id="34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3507"/>
  </p:normalViewPr>
  <p:slideViewPr>
    <p:cSldViewPr snapToGrid="0">
      <p:cViewPr varScale="1">
        <p:scale>
          <a:sx n="95" d="100"/>
          <a:sy n="95" d="100"/>
        </p:scale>
        <p:origin x="67" y="322"/>
      </p:cViewPr>
      <p:guideLst/>
    </p:cSldViewPr>
  </p:slideViewPr>
  <p:notesTextViewPr>
    <p:cViewPr>
      <p:scale>
        <a:sx n="1" d="1"/>
        <a:sy n="1" d="1"/>
      </p:scale>
      <p:origin x="0" y="0"/>
    </p:cViewPr>
  </p:notesTextViewPr>
  <p:notesViewPr>
    <p:cSldViewPr snapToGrid="0" showGuides="1">
      <p:cViewPr varScale="1">
        <p:scale>
          <a:sx n="60" d="100"/>
          <a:sy n="60" d="100"/>
        </p:scale>
        <p:origin x="2438"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omolemo\Downloads\Bright_TV%20sales%20analysis-EXCEL.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[Bright_TV sales analysis-EXCEL.xlsx]Durations_by_Times!PivotTable18</c:name>
    <c:fmtId val="3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sz="1400" b="0" i="0" u="none" strike="noStrike" baseline="0"/>
              <a:t>Monthly User Engagement by Channel</a:t>
            </a:r>
            <a:endParaRPr lang="en-ZA"/>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
        <c:idx val="6"/>
        <c:spPr>
          <a:solidFill>
            <a:schemeClr val="accent1"/>
          </a:solidFill>
          <a:ln>
            <a:noFill/>
          </a:ln>
          <a:effectLst/>
        </c:spPr>
        <c:marker>
          <c:symbol val="none"/>
        </c:marker>
      </c:pivotFmt>
      <c:pivotFmt>
        <c:idx val="7"/>
        <c:spPr>
          <a:solidFill>
            <a:schemeClr val="accent1"/>
          </a:solidFill>
          <a:ln>
            <a:noFill/>
          </a:ln>
          <a:effectLst/>
        </c:spPr>
        <c:marker>
          <c:symbol val="none"/>
        </c:marker>
      </c:pivotFmt>
      <c:pivotFmt>
        <c:idx val="8"/>
        <c:spPr>
          <a:solidFill>
            <a:schemeClr val="accent1"/>
          </a:solidFill>
          <a:ln>
            <a:noFill/>
          </a:ln>
          <a:effectLst/>
        </c:spPr>
        <c:marker>
          <c:symbol val="none"/>
        </c:marker>
      </c:pivotFmt>
      <c:pivotFmt>
        <c:idx val="9"/>
        <c:spPr>
          <a:solidFill>
            <a:schemeClr val="accent1"/>
          </a:solidFill>
          <a:ln>
            <a:noFill/>
          </a:ln>
          <a:effectLst/>
        </c:spPr>
        <c:marker>
          <c:symbol val="none"/>
        </c:marker>
      </c:pivotFmt>
      <c:pivotFmt>
        <c:idx val="10"/>
        <c:spPr>
          <a:solidFill>
            <a:schemeClr val="accent1"/>
          </a:solidFill>
          <a:ln>
            <a:noFill/>
          </a:ln>
          <a:effectLst/>
        </c:spPr>
        <c:marker>
          <c:symbol val="none"/>
        </c:marker>
      </c:pivotFmt>
      <c:pivotFmt>
        <c:idx val="11"/>
        <c:spPr>
          <a:solidFill>
            <a:schemeClr val="accent1"/>
          </a:solidFill>
          <a:ln>
            <a:noFill/>
          </a:ln>
          <a:effectLst/>
        </c:spPr>
        <c:marker>
          <c:symbol val="none"/>
        </c:marker>
      </c:pivotFmt>
      <c:pivotFmt>
        <c:idx val="12"/>
        <c:spPr>
          <a:solidFill>
            <a:schemeClr val="accent1"/>
          </a:solidFill>
          <a:ln>
            <a:noFill/>
          </a:ln>
          <a:effectLst/>
        </c:spPr>
        <c:marker>
          <c:symbol val="none"/>
        </c:marker>
      </c:pivotFmt>
      <c:pivotFmt>
        <c:idx val="13"/>
        <c:spPr>
          <a:solidFill>
            <a:schemeClr val="accent1"/>
          </a:solidFill>
          <a:ln>
            <a:noFill/>
          </a:ln>
          <a:effectLst/>
        </c:spPr>
        <c:marker>
          <c:symbol val="none"/>
        </c:marker>
      </c:pivotFmt>
      <c:pivotFmt>
        <c:idx val="14"/>
        <c:spPr>
          <a:solidFill>
            <a:schemeClr val="accent1"/>
          </a:solidFill>
          <a:ln>
            <a:noFill/>
          </a:ln>
          <a:effectLst/>
        </c:spPr>
        <c:marker>
          <c:symbol val="none"/>
        </c:marker>
      </c:pivotFmt>
      <c:pivotFmt>
        <c:idx val="15"/>
        <c:spPr>
          <a:solidFill>
            <a:schemeClr val="accent1"/>
          </a:solidFill>
          <a:ln>
            <a:noFill/>
          </a:ln>
          <a:effectLst/>
        </c:spPr>
        <c:marker>
          <c:symbol val="none"/>
        </c:marker>
      </c:pivotFmt>
      <c:pivotFmt>
        <c:idx val="16"/>
        <c:spPr>
          <a:solidFill>
            <a:schemeClr val="accent1"/>
          </a:solidFill>
          <a:ln>
            <a:noFill/>
          </a:ln>
          <a:effectLst/>
        </c:spPr>
        <c:marker>
          <c:symbol val="none"/>
        </c:marker>
      </c:pivotFmt>
    </c:pivotFmts>
    <c:plotArea>
      <c:layout/>
      <c:barChart>
        <c:barDir val="col"/>
        <c:grouping val="stacked"/>
        <c:varyColors val="0"/>
        <c:ser>
          <c:idx val="0"/>
          <c:order val="0"/>
          <c:tx>
            <c:strRef>
              <c:f>Durations_by_Times!$B$100:$B$101</c:f>
              <c:strCache>
                <c:ptCount val="1"/>
                <c:pt idx="0">
                  <c:v>Jan</c:v>
                </c:pt>
              </c:strCache>
            </c:strRef>
          </c:tx>
          <c:spPr>
            <a:solidFill>
              <a:schemeClr val="accent1"/>
            </a:solidFill>
            <a:ln>
              <a:noFill/>
            </a:ln>
            <a:effectLst/>
          </c:spPr>
          <c:invertIfNegative val="0"/>
          <c:cat>
            <c:strRef>
              <c:f>Durations_by_Times!$A$102:$A$110</c:f>
              <c:strCache>
                <c:ptCount val="8"/>
                <c:pt idx="0">
                  <c:v>Kids/Animation</c:v>
                </c:pt>
                <c:pt idx="1">
                  <c:v>Local/Regional Content</c:v>
                </c:pt>
                <c:pt idx="2">
                  <c:v>Miscellaneous / Unclassified Content</c:v>
                </c:pt>
                <c:pt idx="3">
                  <c:v>Movies/Premium</c:v>
                </c:pt>
                <c:pt idx="4">
                  <c:v>Music/Entertainment</c:v>
                </c:pt>
                <c:pt idx="5">
                  <c:v>Other</c:v>
                </c:pt>
                <c:pt idx="6">
                  <c:v>Special Events</c:v>
                </c:pt>
                <c:pt idx="7">
                  <c:v>Sports</c:v>
                </c:pt>
              </c:strCache>
            </c:strRef>
          </c:cat>
          <c:val>
            <c:numRef>
              <c:f>Durations_by_Times!$B$102:$B$110</c:f>
              <c:numCache>
                <c:formatCode>General</c:formatCode>
                <c:ptCount val="8"/>
                <c:pt idx="0">
                  <c:v>338</c:v>
                </c:pt>
                <c:pt idx="1">
                  <c:v>274</c:v>
                </c:pt>
                <c:pt idx="2">
                  <c:v>58</c:v>
                </c:pt>
                <c:pt idx="3">
                  <c:v>35</c:v>
                </c:pt>
                <c:pt idx="4">
                  <c:v>600</c:v>
                </c:pt>
                <c:pt idx="5">
                  <c:v>89</c:v>
                </c:pt>
                <c:pt idx="6">
                  <c:v>43</c:v>
                </c:pt>
                <c:pt idx="7">
                  <c:v>511</c:v>
                </c:pt>
              </c:numCache>
            </c:numRef>
          </c:val>
          <c:extLst>
            <c:ext xmlns:c16="http://schemas.microsoft.com/office/drawing/2014/chart" uri="{C3380CC4-5D6E-409C-BE32-E72D297353CC}">
              <c16:uniqueId val="{00000000-1458-447D-8E00-61266680A295}"/>
            </c:ext>
          </c:extLst>
        </c:ser>
        <c:ser>
          <c:idx val="1"/>
          <c:order val="1"/>
          <c:tx>
            <c:strRef>
              <c:f>Durations_by_Times!$C$100:$C$101</c:f>
              <c:strCache>
                <c:ptCount val="1"/>
                <c:pt idx="0">
                  <c:v>Feb</c:v>
                </c:pt>
              </c:strCache>
            </c:strRef>
          </c:tx>
          <c:spPr>
            <a:solidFill>
              <a:schemeClr val="accent2"/>
            </a:solidFill>
            <a:ln>
              <a:noFill/>
            </a:ln>
            <a:effectLst/>
          </c:spPr>
          <c:invertIfNegative val="0"/>
          <c:cat>
            <c:strRef>
              <c:f>Durations_by_Times!$A$102:$A$110</c:f>
              <c:strCache>
                <c:ptCount val="8"/>
                <c:pt idx="0">
                  <c:v>Kids/Animation</c:v>
                </c:pt>
                <c:pt idx="1">
                  <c:v>Local/Regional Content</c:v>
                </c:pt>
                <c:pt idx="2">
                  <c:v>Miscellaneous / Unclassified Content</c:v>
                </c:pt>
                <c:pt idx="3">
                  <c:v>Movies/Premium</c:v>
                </c:pt>
                <c:pt idx="4">
                  <c:v>Music/Entertainment</c:v>
                </c:pt>
                <c:pt idx="5">
                  <c:v>Other</c:v>
                </c:pt>
                <c:pt idx="6">
                  <c:v>Special Events</c:v>
                </c:pt>
                <c:pt idx="7">
                  <c:v>Sports</c:v>
                </c:pt>
              </c:strCache>
            </c:strRef>
          </c:cat>
          <c:val>
            <c:numRef>
              <c:f>Durations_by_Times!$C$102:$C$110</c:f>
              <c:numCache>
                <c:formatCode>General</c:formatCode>
                <c:ptCount val="8"/>
                <c:pt idx="0">
                  <c:v>386</c:v>
                </c:pt>
                <c:pt idx="1">
                  <c:v>275</c:v>
                </c:pt>
                <c:pt idx="2">
                  <c:v>107</c:v>
                </c:pt>
                <c:pt idx="3">
                  <c:v>34</c:v>
                </c:pt>
                <c:pt idx="4">
                  <c:v>738</c:v>
                </c:pt>
                <c:pt idx="5">
                  <c:v>133</c:v>
                </c:pt>
                <c:pt idx="6">
                  <c:v>18</c:v>
                </c:pt>
                <c:pt idx="7">
                  <c:v>1041</c:v>
                </c:pt>
              </c:numCache>
            </c:numRef>
          </c:val>
          <c:extLst>
            <c:ext xmlns:c16="http://schemas.microsoft.com/office/drawing/2014/chart" uri="{C3380CC4-5D6E-409C-BE32-E72D297353CC}">
              <c16:uniqueId val="{00000001-1458-447D-8E00-61266680A295}"/>
            </c:ext>
          </c:extLst>
        </c:ser>
        <c:ser>
          <c:idx val="2"/>
          <c:order val="2"/>
          <c:tx>
            <c:strRef>
              <c:f>Durations_by_Times!$D$100:$D$101</c:f>
              <c:strCache>
                <c:ptCount val="1"/>
                <c:pt idx="0">
                  <c:v>Mar</c:v>
                </c:pt>
              </c:strCache>
            </c:strRef>
          </c:tx>
          <c:spPr>
            <a:solidFill>
              <a:schemeClr val="accent3"/>
            </a:solidFill>
            <a:ln>
              <a:noFill/>
            </a:ln>
            <a:effectLst/>
          </c:spPr>
          <c:invertIfNegative val="0"/>
          <c:cat>
            <c:strRef>
              <c:f>Durations_by_Times!$A$102:$A$110</c:f>
              <c:strCache>
                <c:ptCount val="8"/>
                <c:pt idx="0">
                  <c:v>Kids/Animation</c:v>
                </c:pt>
                <c:pt idx="1">
                  <c:v>Local/Regional Content</c:v>
                </c:pt>
                <c:pt idx="2">
                  <c:v>Miscellaneous / Unclassified Content</c:v>
                </c:pt>
                <c:pt idx="3">
                  <c:v>Movies/Premium</c:v>
                </c:pt>
                <c:pt idx="4">
                  <c:v>Music/Entertainment</c:v>
                </c:pt>
                <c:pt idx="5">
                  <c:v>Other</c:v>
                </c:pt>
                <c:pt idx="6">
                  <c:v>Special Events</c:v>
                </c:pt>
                <c:pt idx="7">
                  <c:v>Sports</c:v>
                </c:pt>
              </c:strCache>
            </c:strRef>
          </c:cat>
          <c:val>
            <c:numRef>
              <c:f>Durations_by_Times!$D$102:$D$110</c:f>
              <c:numCache>
                <c:formatCode>General</c:formatCode>
                <c:ptCount val="8"/>
                <c:pt idx="0">
                  <c:v>611</c:v>
                </c:pt>
                <c:pt idx="1">
                  <c:v>317</c:v>
                </c:pt>
                <c:pt idx="2">
                  <c:v>119</c:v>
                </c:pt>
                <c:pt idx="3">
                  <c:v>35</c:v>
                </c:pt>
                <c:pt idx="4">
                  <c:v>904</c:v>
                </c:pt>
                <c:pt idx="5">
                  <c:v>204</c:v>
                </c:pt>
                <c:pt idx="6">
                  <c:v>30</c:v>
                </c:pt>
                <c:pt idx="7">
                  <c:v>2028</c:v>
                </c:pt>
              </c:numCache>
            </c:numRef>
          </c:val>
          <c:extLst>
            <c:ext xmlns:c16="http://schemas.microsoft.com/office/drawing/2014/chart" uri="{C3380CC4-5D6E-409C-BE32-E72D297353CC}">
              <c16:uniqueId val="{00000002-1458-447D-8E00-61266680A295}"/>
            </c:ext>
          </c:extLst>
        </c:ser>
        <c:dLbls>
          <c:showLegendKey val="0"/>
          <c:showVal val="0"/>
          <c:showCatName val="0"/>
          <c:showSerName val="0"/>
          <c:showPercent val="0"/>
          <c:showBubbleSize val="0"/>
        </c:dLbls>
        <c:gapWidth val="150"/>
        <c:overlap val="100"/>
        <c:axId val="541360352"/>
        <c:axId val="541360680"/>
      </c:barChart>
      <c:catAx>
        <c:axId val="54136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360680"/>
        <c:crosses val="autoZero"/>
        <c:auto val="1"/>
        <c:lblAlgn val="ctr"/>
        <c:lblOffset val="100"/>
        <c:noMultiLvlLbl val="0"/>
      </c:catAx>
      <c:valAx>
        <c:axId val="5413606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Total_Users</a:t>
                </a:r>
              </a:p>
            </c:rich>
          </c:tx>
          <c:layout>
            <c:manualLayout>
              <c:xMode val="edge"/>
              <c:yMode val="edge"/>
              <c:x val="2.5000000000000001E-2"/>
              <c:y val="0.3607688101487314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36035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08916B-8145-4DD4-A4F0-4944307B25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E8868C6-14E0-456B-8627-6ED3D5EA25F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37BDEB-D08A-4BCC-82C3-65677B6346BB}" type="datetimeFigureOut">
              <a:rPr lang="en-US" smtClean="0"/>
              <a:t>11/14/2025</a:t>
            </a:fld>
            <a:endParaRPr lang="en-US"/>
          </a:p>
        </p:txBody>
      </p:sp>
      <p:sp>
        <p:nvSpPr>
          <p:cNvPr id="4" name="Footer Placeholder 3">
            <a:extLst>
              <a:ext uri="{FF2B5EF4-FFF2-40B4-BE49-F238E27FC236}">
                <a16:creationId xmlns:a16="http://schemas.microsoft.com/office/drawing/2014/main" id="{420B6480-DE26-42CA-B861-D6EFA45FC7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1DDB9B3-0030-40C0-AFA9-FACA7EA5136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F12C2-4DB0-4437-81E7-A0C89F24ADC0}" type="slidenum">
              <a:rPr lang="en-US" smtClean="0"/>
              <a:t>‹#›</a:t>
            </a:fld>
            <a:endParaRPr lang="en-US"/>
          </a:p>
        </p:txBody>
      </p:sp>
    </p:spTree>
    <p:extLst>
      <p:ext uri="{BB962C8B-B14F-4D97-AF65-F5344CB8AC3E}">
        <p14:creationId xmlns:p14="http://schemas.microsoft.com/office/powerpoint/2010/main" val="351529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182BB-4E27-4552-8EE4-33C8EF731305}"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8442E7-1E35-4707-8504-AE37222ED57D}" type="slidenum">
              <a:rPr lang="en-US" smtClean="0"/>
              <a:t>‹#›</a:t>
            </a:fld>
            <a:endParaRPr lang="en-US"/>
          </a:p>
        </p:txBody>
      </p:sp>
    </p:spTree>
    <p:extLst>
      <p:ext uri="{BB962C8B-B14F-4D97-AF65-F5344CB8AC3E}">
        <p14:creationId xmlns:p14="http://schemas.microsoft.com/office/powerpoint/2010/main" val="2471682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581190" y="3085764"/>
            <a:ext cx="10993550" cy="333814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Rectangle 1">
            <a:extLst>
              <a:ext uri="{FF2B5EF4-FFF2-40B4-BE49-F238E27FC236}">
                <a16:creationId xmlns:a16="http://schemas.microsoft.com/office/drawing/2014/main" id="{5688E5B1-4139-AD48-BA45-9CE6A55A1ED0}"/>
              </a:ext>
            </a:extLst>
          </p:cNvPr>
          <p:cNvSpPr/>
          <p:nvPr userDrawn="1"/>
        </p:nvSpPr>
        <p:spPr>
          <a:xfrm>
            <a:off x="109259" y="456433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420804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3" name="Content Placeholder 2"/>
          <p:cNvSpPr>
            <a:spLocks noGrp="1"/>
          </p:cNvSpPr>
          <p:nvPr>
            <p:ph idx="1"/>
          </p:nvPr>
        </p:nvSpPr>
        <p:spPr>
          <a:xfrm>
            <a:off x="581192" y="1890876"/>
            <a:ext cx="11029615" cy="408447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3" name="Rectangle 1">
            <a:extLst>
              <a:ext uri="{FF2B5EF4-FFF2-40B4-BE49-F238E27FC236}">
                <a16:creationId xmlns:a16="http://schemas.microsoft.com/office/drawing/2014/main" id="{C8660979-B6F8-480C-AAC7-48903CC3ECFC}"/>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296164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390CC524-3900-1041-BDBF-D0ABD37D8E8B}"/>
              </a:ext>
            </a:extLst>
          </p:cNvPr>
          <p:cNvSpPr>
            <a:spLocks noGrp="1"/>
          </p:cNvSpPr>
          <p:nvPr>
            <p:ph type="pic" sz="quarter" idx="13"/>
          </p:nvPr>
        </p:nvSpPr>
        <p:spPr>
          <a:xfrm>
            <a:off x="0" y="0"/>
            <a:ext cx="5524500" cy="6858000"/>
          </a:xfrm>
          <a:custGeom>
            <a:avLst/>
            <a:gdLst>
              <a:gd name="connsiteX0" fmla="*/ 0 w 5524500"/>
              <a:gd name="connsiteY0" fmla="*/ 0 h 6858000"/>
              <a:gd name="connsiteX1" fmla="*/ 5524500 w 5524500"/>
              <a:gd name="connsiteY1" fmla="*/ 0 h 6858000"/>
              <a:gd name="connsiteX2" fmla="*/ 5524500 w 5524500"/>
              <a:gd name="connsiteY2" fmla="*/ 806538 h 6858000"/>
              <a:gd name="connsiteX3" fmla="*/ 4952408 w 5524500"/>
              <a:gd name="connsiteY3" fmla="*/ 806538 h 6858000"/>
              <a:gd name="connsiteX4" fmla="*/ 4952408 w 5524500"/>
              <a:gd name="connsiteY4" fmla="*/ 1187539 h 6858000"/>
              <a:gd name="connsiteX5" fmla="*/ 5524500 w 5524500"/>
              <a:gd name="connsiteY5" fmla="*/ 1187539 h 6858000"/>
              <a:gd name="connsiteX6" fmla="*/ 5524500 w 5524500"/>
              <a:gd name="connsiteY6" fmla="*/ 6858000 h 6858000"/>
              <a:gd name="connsiteX7" fmla="*/ 0 w 55245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0" h="6858000">
                <a:moveTo>
                  <a:pt x="0" y="0"/>
                </a:moveTo>
                <a:lnTo>
                  <a:pt x="5524500" y="0"/>
                </a:lnTo>
                <a:lnTo>
                  <a:pt x="5524500" y="806538"/>
                </a:lnTo>
                <a:lnTo>
                  <a:pt x="4952408" y="806538"/>
                </a:lnTo>
                <a:lnTo>
                  <a:pt x="4952408" y="1187539"/>
                </a:lnTo>
                <a:lnTo>
                  <a:pt x="5524500" y="1187539"/>
                </a:lnTo>
                <a:lnTo>
                  <a:pt x="5524500" y="6858000"/>
                </a:lnTo>
                <a:lnTo>
                  <a:pt x="0" y="6858000"/>
                </a:lnTo>
                <a:close/>
              </a:path>
            </a:pathLst>
          </a:custGeom>
          <a:solidFill>
            <a:schemeClr val="tx2"/>
          </a:solidFill>
        </p:spPr>
        <p:txBody>
          <a:bodyPr wrap="square">
            <a:noAutofit/>
          </a:bodyPr>
          <a:lstStyle>
            <a:lvl1pPr marL="0" indent="0" algn="ctr">
              <a:buNone/>
              <a:defRPr>
                <a:solidFill>
                  <a:schemeClr val="bg1"/>
                </a:solidFill>
              </a:defRPr>
            </a:lvl1pPr>
          </a:lstStyle>
          <a:p>
            <a:r>
              <a:rPr lang="en-US" smtClean="0"/>
              <a:t>Click icon to add picture</a:t>
            </a:r>
            <a:endParaRPr lang="en-US" dirty="0"/>
          </a:p>
        </p:txBody>
      </p:sp>
      <p:sp>
        <p:nvSpPr>
          <p:cNvPr id="3" name="Content Placeholder 2"/>
          <p:cNvSpPr>
            <a:spLocks noGrp="1"/>
          </p:cNvSpPr>
          <p:nvPr>
            <p:ph idx="1"/>
          </p:nvPr>
        </p:nvSpPr>
        <p:spPr>
          <a:xfrm>
            <a:off x="6223592" y="1890876"/>
            <a:ext cx="5387215" cy="408447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4" name="Title 1">
            <a:extLst>
              <a:ext uri="{FF2B5EF4-FFF2-40B4-BE49-F238E27FC236}">
                <a16:creationId xmlns:a16="http://schemas.microsoft.com/office/drawing/2014/main" id="{1D49B377-6CF8-9E4B-8973-3F8057D7DF48}"/>
              </a:ext>
            </a:extLst>
          </p:cNvPr>
          <p:cNvSpPr>
            <a:spLocks noGrp="1"/>
          </p:cNvSpPr>
          <p:nvPr>
            <p:ph type="title" hasCustomPrompt="1"/>
          </p:nvPr>
        </p:nvSpPr>
        <p:spPr>
          <a:xfrm>
            <a:off x="6223592" y="702156"/>
            <a:ext cx="5387215" cy="740156"/>
          </a:xfrm>
        </p:spPr>
        <p:txBody>
          <a:bodyPr anchor="t">
            <a:normAutofit/>
          </a:bodyPr>
          <a:lstStyle>
            <a:lvl1pPr>
              <a:defRPr sz="3400"/>
            </a:lvl1pPr>
          </a:lstStyle>
          <a:p>
            <a:r>
              <a:rPr lang="en-US" dirty="0"/>
              <a:t>TITLE GOES HERE</a:t>
            </a:r>
          </a:p>
        </p:txBody>
      </p:sp>
      <p:sp>
        <p:nvSpPr>
          <p:cNvPr id="19" name="Rectangle 1">
            <a:extLst>
              <a:ext uri="{FF2B5EF4-FFF2-40B4-BE49-F238E27FC236}">
                <a16:creationId xmlns:a16="http://schemas.microsoft.com/office/drawing/2014/main" id="{E11F091D-EBC7-D743-82DA-0E177FD421D4}"/>
              </a:ext>
            </a:extLst>
          </p:cNvPr>
          <p:cNvSpPr/>
          <p:nvPr userDrawn="1"/>
        </p:nvSpPr>
        <p:spPr>
          <a:xfrm>
            <a:off x="4952408" y="806538"/>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3911834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581191" y="5141974"/>
            <a:ext cx="11029615" cy="125882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Rectangle 1">
            <a:extLst>
              <a:ext uri="{FF2B5EF4-FFF2-40B4-BE49-F238E27FC236}">
                <a16:creationId xmlns:a16="http://schemas.microsoft.com/office/drawing/2014/main" id="{5DC1E635-F6E7-F248-9B85-120581E81180}"/>
              </a:ext>
            </a:extLst>
          </p:cNvPr>
          <p:cNvSpPr/>
          <p:nvPr userDrawn="1"/>
        </p:nvSpPr>
        <p:spPr>
          <a:xfrm>
            <a:off x="109259" y="555202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36614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1956391"/>
            <a:ext cx="3863216" cy="4467523"/>
          </a:xfrm>
        </p:spPr>
        <p:txBody>
          <a:bodyPr anchor="t">
            <a:normAutofit/>
          </a:bodyPr>
          <a:lstStyle>
            <a:lvl1pPr>
              <a:defRPr sz="1600"/>
            </a:lvl1pPr>
            <a:lvl2pPr>
              <a:defRPr sz="1400"/>
            </a:lvl2pPr>
            <a:lvl3pPr>
              <a:defRPr sz="1200"/>
            </a:lvl3pPr>
            <a:lvl4pPr>
              <a:defRPr sz="1100"/>
            </a:lvl4pPr>
            <a:lvl5pPr>
              <a:defRPr sz="11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93599" y="1956391"/>
            <a:ext cx="6917210" cy="446752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8" name="Title 1">
            <a:extLst>
              <a:ext uri="{FF2B5EF4-FFF2-40B4-BE49-F238E27FC236}">
                <a16:creationId xmlns:a16="http://schemas.microsoft.com/office/drawing/2014/main" id="{4C75DA6C-B626-714A-8BBC-6FDDB6BE4083}"/>
              </a:ext>
            </a:extLst>
          </p:cNvPr>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9" name="Rectangle 1">
            <a:extLst>
              <a:ext uri="{FF2B5EF4-FFF2-40B4-BE49-F238E27FC236}">
                <a16:creationId xmlns:a16="http://schemas.microsoft.com/office/drawing/2014/main" id="{72B4D55A-70C8-E04B-B7E3-3355A1131891}"/>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23016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81192" y="2847885"/>
            <a:ext cx="4757482" cy="557784"/>
          </a:xfrm>
        </p:spPr>
        <p:txBody>
          <a:bodyPr anchor="ctr">
            <a:noAutofit/>
          </a:bodyPr>
          <a:lstStyle>
            <a:lvl1pPr marL="0" indent="0" algn="ctr">
              <a:buNone/>
              <a:defRPr sz="28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Title goes here</a:t>
            </a:r>
          </a:p>
        </p:txBody>
      </p:sp>
      <p:sp>
        <p:nvSpPr>
          <p:cNvPr id="4" name="Content Placeholder 3"/>
          <p:cNvSpPr>
            <a:spLocks noGrp="1"/>
          </p:cNvSpPr>
          <p:nvPr>
            <p:ph sz="half" idx="2"/>
          </p:nvPr>
        </p:nvSpPr>
        <p:spPr>
          <a:xfrm>
            <a:off x="581194" y="3523046"/>
            <a:ext cx="4757479" cy="2131499"/>
          </a:xfrm>
        </p:spPr>
        <p:txBody>
          <a:bodyPr anchor="t">
            <a:normAutofit/>
          </a:bodyPr>
          <a:lstStyle>
            <a:lvl1pPr algn="ctr">
              <a:defRPr/>
            </a:lvl1pPr>
            <a:lvl2pPr algn="ctr">
              <a:defRPr/>
            </a:lvl2pPr>
            <a:lvl3pPr algn="ctr">
              <a:defRPr/>
            </a:lvl3pPr>
            <a:lvl4pPr algn="ctr">
              <a:defRPr/>
            </a:lvl4pPr>
            <a:lvl5pPr algn="ct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hasCustomPrompt="1"/>
          </p:nvPr>
        </p:nvSpPr>
        <p:spPr>
          <a:xfrm>
            <a:off x="6604002" y="2847886"/>
            <a:ext cx="4757483" cy="553373"/>
          </a:xfrm>
        </p:spPr>
        <p:txBody>
          <a:bodyPr anchor="ctr">
            <a:noAutofit/>
          </a:bodyPr>
          <a:lstStyle>
            <a:lvl1pPr marL="0" marR="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8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Title goes here</a:t>
            </a:r>
          </a:p>
        </p:txBody>
      </p:sp>
      <p:sp>
        <p:nvSpPr>
          <p:cNvPr id="6" name="Content Placeholder 5"/>
          <p:cNvSpPr>
            <a:spLocks noGrp="1"/>
          </p:cNvSpPr>
          <p:nvPr>
            <p:ph sz="quarter" idx="4"/>
          </p:nvPr>
        </p:nvSpPr>
        <p:spPr>
          <a:xfrm>
            <a:off x="6604001" y="3523046"/>
            <a:ext cx="4757484" cy="2131499"/>
          </a:xfrm>
        </p:spPr>
        <p:txBody>
          <a:bodyPr anchor="t">
            <a:normAutofit/>
          </a:bodyPr>
          <a:lstStyle>
            <a:lvl1pPr algn="ctr">
              <a:defRPr/>
            </a:lvl1pPr>
            <a:lvl2pPr algn="ctr">
              <a:defRPr/>
            </a:lvl2pPr>
            <a:lvl3pPr algn="ctr">
              <a:defRPr/>
            </a:lvl3pPr>
            <a:lvl4pPr algn="ctr">
              <a:defRPr/>
            </a:lvl4pPr>
            <a:lvl5pPr algn="ct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
        <p:nvSpPr>
          <p:cNvPr id="10" name="Title 1">
            <a:extLst>
              <a:ext uri="{FF2B5EF4-FFF2-40B4-BE49-F238E27FC236}">
                <a16:creationId xmlns:a16="http://schemas.microsoft.com/office/drawing/2014/main" id="{73CA278B-C101-7F4E-B11A-7B91B0C8E60A}"/>
              </a:ext>
            </a:extLst>
          </p:cNvPr>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11" name="Rectangle 1">
            <a:extLst>
              <a:ext uri="{FF2B5EF4-FFF2-40B4-BE49-F238E27FC236}">
                <a16:creationId xmlns:a16="http://schemas.microsoft.com/office/drawing/2014/main" id="{FE5F6035-AACE-6847-8AF4-EB3C4D79EE95}"/>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grpSp>
        <p:nvGrpSpPr>
          <p:cNvPr id="13" name="Group 12">
            <a:extLst>
              <a:ext uri="{FF2B5EF4-FFF2-40B4-BE49-F238E27FC236}">
                <a16:creationId xmlns:a16="http://schemas.microsoft.com/office/drawing/2014/main" id="{7D914FC0-3771-6041-9E7C-1C624C85A803}"/>
              </a:ext>
            </a:extLst>
          </p:cNvPr>
          <p:cNvGrpSpPr/>
          <p:nvPr userDrawn="1"/>
        </p:nvGrpSpPr>
        <p:grpSpPr>
          <a:xfrm>
            <a:off x="5463336" y="2250891"/>
            <a:ext cx="1016001" cy="3839220"/>
            <a:chOff x="5510085" y="2250891"/>
            <a:chExt cx="1016001" cy="3839220"/>
          </a:xfrm>
        </p:grpSpPr>
        <p:cxnSp>
          <p:nvCxnSpPr>
            <p:cNvPr id="14" name="Straight Connector 13">
              <a:extLst>
                <a:ext uri="{FF2B5EF4-FFF2-40B4-BE49-F238E27FC236}">
                  <a16:creationId xmlns:a16="http://schemas.microsoft.com/office/drawing/2014/main" id="{0AED3128-974C-7F4B-BF36-A3836D1725F6}"/>
                </a:ext>
              </a:extLst>
            </p:cNvPr>
            <p:cNvCxnSpPr/>
            <p:nvPr/>
          </p:nvCxnSpPr>
          <p:spPr>
            <a:xfrm>
              <a:off x="6018085" y="2340176"/>
              <a:ext cx="0" cy="37499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
              <a:extLst>
                <a:ext uri="{FF2B5EF4-FFF2-40B4-BE49-F238E27FC236}">
                  <a16:creationId xmlns:a16="http://schemas.microsoft.com/office/drawing/2014/main" id="{2D2224CB-5DFF-3D4B-816B-1A44228A23EE}"/>
                </a:ext>
              </a:extLst>
            </p:cNvPr>
            <p:cNvSpPr/>
            <p:nvPr/>
          </p:nvSpPr>
          <p:spPr>
            <a:xfrm>
              <a:off x="5510085" y="2250891"/>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r>
                <a:rPr lang="en-US" sz="1600" kern="0" noProof="0">
                  <a:solidFill>
                    <a:srgbClr val="FFFFFF"/>
                  </a:solidFill>
                  <a:latin typeface="Helvetica Light"/>
                  <a:sym typeface="Helvetica Light"/>
                </a:rPr>
                <a:t>VS</a:t>
              </a:r>
            </a:p>
          </p:txBody>
        </p:sp>
      </p:grpSp>
    </p:spTree>
    <p:extLst>
      <p:ext uri="{BB962C8B-B14F-4D97-AF65-F5344CB8AC3E}">
        <p14:creationId xmlns:p14="http://schemas.microsoft.com/office/powerpoint/2010/main" val="330825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B4ED54-5B5E-4A04-93D3-5772E3CE3818}" type="datetime1">
              <a:rPr lang="en-US" smtClean="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
        <p:nvSpPr>
          <p:cNvPr id="6" name="Title 1">
            <a:extLst>
              <a:ext uri="{FF2B5EF4-FFF2-40B4-BE49-F238E27FC236}">
                <a16:creationId xmlns:a16="http://schemas.microsoft.com/office/drawing/2014/main" id="{E2F4516B-8A37-894B-82AE-60204E6767D9}"/>
              </a:ext>
            </a:extLst>
          </p:cNvPr>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7" name="Rectangle 1">
            <a:extLst>
              <a:ext uri="{FF2B5EF4-FFF2-40B4-BE49-F238E27FC236}">
                <a16:creationId xmlns:a16="http://schemas.microsoft.com/office/drawing/2014/main" id="{CC16CE43-CB3C-7544-B05B-0A9F706D6FD8}"/>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39701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01450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ntent Large Imag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EEDEA7C-D9D3-5E4A-A0E6-B7A0ED5E0F89}"/>
              </a:ext>
            </a:extLst>
          </p:cNvPr>
          <p:cNvSpPr>
            <a:spLocks noGrp="1"/>
          </p:cNvSpPr>
          <p:nvPr>
            <p:ph type="pic" sz="quarter" idx="13"/>
          </p:nvPr>
        </p:nvSpPr>
        <p:spPr>
          <a:xfrm>
            <a:off x="5181599" y="0"/>
            <a:ext cx="7010400" cy="6858000"/>
          </a:xfrm>
          <a:custGeom>
            <a:avLst/>
            <a:gdLst>
              <a:gd name="connsiteX0" fmla="*/ 0 w 7010400"/>
              <a:gd name="connsiteY0" fmla="*/ 0 h 6858000"/>
              <a:gd name="connsiteX1" fmla="*/ 7010400 w 7010400"/>
              <a:gd name="connsiteY1" fmla="*/ 0 h 6858000"/>
              <a:gd name="connsiteX2" fmla="*/ 7010400 w 7010400"/>
              <a:gd name="connsiteY2" fmla="*/ 6858000 h 6858000"/>
              <a:gd name="connsiteX3" fmla="*/ 0 w 7010400"/>
              <a:gd name="connsiteY3" fmla="*/ 6858000 h 6858000"/>
              <a:gd name="connsiteX4" fmla="*/ 0 w 7010400"/>
              <a:gd name="connsiteY4" fmla="*/ 2620396 h 6858000"/>
              <a:gd name="connsiteX5" fmla="*/ 508001 w 7010400"/>
              <a:gd name="connsiteY5" fmla="*/ 2620396 h 6858000"/>
              <a:gd name="connsiteX6" fmla="*/ 508001 w 7010400"/>
              <a:gd name="connsiteY6" fmla="*/ 2239395 h 6858000"/>
              <a:gd name="connsiteX7" fmla="*/ 0 w 7010400"/>
              <a:gd name="connsiteY7" fmla="*/ 22393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10400" h="6858000">
                <a:moveTo>
                  <a:pt x="0" y="0"/>
                </a:moveTo>
                <a:lnTo>
                  <a:pt x="7010400" y="0"/>
                </a:lnTo>
                <a:lnTo>
                  <a:pt x="7010400" y="6858000"/>
                </a:lnTo>
                <a:lnTo>
                  <a:pt x="0" y="6858000"/>
                </a:lnTo>
                <a:lnTo>
                  <a:pt x="0" y="2620396"/>
                </a:lnTo>
                <a:lnTo>
                  <a:pt x="508001" y="2620396"/>
                </a:lnTo>
                <a:lnTo>
                  <a:pt x="508001" y="2239395"/>
                </a:lnTo>
                <a:lnTo>
                  <a:pt x="0" y="2239395"/>
                </a:lnTo>
                <a:close/>
              </a:path>
            </a:pathLst>
          </a:custGeom>
          <a:solidFill>
            <a:schemeClr val="tx2"/>
          </a:solidFill>
        </p:spPr>
        <p:txBody>
          <a:bodyPr wrap="square">
            <a:noAutofit/>
          </a:bodyPr>
          <a:lstStyle/>
          <a:p>
            <a:r>
              <a:rPr lang="en-US" smtClean="0"/>
              <a:t>Click icon to add picture</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12" name="Rectangle 1">
            <a:extLst>
              <a:ext uri="{FF2B5EF4-FFF2-40B4-BE49-F238E27FC236}">
                <a16:creationId xmlns:a16="http://schemas.microsoft.com/office/drawing/2014/main" id="{EF358276-528D-1F4E-804A-4F9FDE93568A}"/>
              </a:ext>
            </a:extLst>
          </p:cNvPr>
          <p:cNvSpPr/>
          <p:nvPr userDrawn="1"/>
        </p:nvSpPr>
        <p:spPr>
          <a:xfrm>
            <a:off x="4673599" y="2239395"/>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5" name="Rectangle 1">
            <a:extLst>
              <a:ext uri="{FF2B5EF4-FFF2-40B4-BE49-F238E27FC236}">
                <a16:creationId xmlns:a16="http://schemas.microsoft.com/office/drawing/2014/main" id="{A6817E56-9BF4-B245-9536-10F7E163D7D9}"/>
              </a:ext>
            </a:extLst>
          </p:cNvPr>
          <p:cNvSpPr/>
          <p:nvPr userDrawn="1"/>
        </p:nvSpPr>
        <p:spPr>
          <a:xfrm>
            <a:off x="581192" y="875830"/>
            <a:ext cx="2540001" cy="25400"/>
          </a:xfrm>
          <a:prstGeom prst="rect">
            <a:avLst/>
          </a:prstGeom>
          <a:solidFill>
            <a:srgbClr val="24282B"/>
          </a:solidFill>
          <a:ln w="12700">
            <a:miter lim="400000"/>
          </a:ln>
        </p:spPr>
        <p:txBody>
          <a:bodyPr lIns="50800" tIns="50800" rIns="50800" bIns="50800" anchor="ctr"/>
          <a:lstStyle/>
          <a:p>
            <a:pPr algn="ctr">
              <a:defRPr sz="3200" spc="0">
                <a:solidFill>
                  <a:srgbClr val="0433FF"/>
                </a:solidFill>
                <a:latin typeface="Helvetica Light"/>
                <a:ea typeface="Helvetica Light"/>
                <a:cs typeface="Helvetica Light"/>
                <a:sym typeface="Helvetica Light"/>
              </a:defRPr>
            </a:pPr>
            <a:endParaRPr lang="en-US" noProof="0" dirty="0"/>
          </a:p>
        </p:txBody>
      </p:sp>
      <p:sp>
        <p:nvSpPr>
          <p:cNvPr id="18" name="Content Placeholder 2">
            <a:extLst>
              <a:ext uri="{FF2B5EF4-FFF2-40B4-BE49-F238E27FC236}">
                <a16:creationId xmlns:a16="http://schemas.microsoft.com/office/drawing/2014/main" id="{A2F758DC-4792-1D42-83A8-ED4E6CD5F7E3}"/>
              </a:ext>
            </a:extLst>
          </p:cNvPr>
          <p:cNvSpPr>
            <a:spLocks noGrp="1"/>
          </p:cNvSpPr>
          <p:nvPr>
            <p:ph sz="half" idx="1"/>
          </p:nvPr>
        </p:nvSpPr>
        <p:spPr>
          <a:xfrm>
            <a:off x="581194" y="2720636"/>
            <a:ext cx="3863216" cy="3634317"/>
          </a:xfrm>
        </p:spPr>
        <p:txBody>
          <a:bodyPr anchor="t">
            <a:normAutofit/>
          </a:bodyPr>
          <a:lstStyle>
            <a:lvl1pPr>
              <a:defRPr sz="1600"/>
            </a:lvl1pPr>
            <a:lvl2pPr>
              <a:defRPr sz="1400"/>
            </a:lvl2pPr>
            <a:lvl3pPr>
              <a:defRPr sz="1200"/>
            </a:lvl3pPr>
            <a:lvl4pPr>
              <a:defRPr sz="1100"/>
            </a:lvl4pPr>
            <a:lvl5pPr>
              <a:defRPr sz="11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a:extLst>
              <a:ext uri="{FF2B5EF4-FFF2-40B4-BE49-F238E27FC236}">
                <a16:creationId xmlns:a16="http://schemas.microsoft.com/office/drawing/2014/main" id="{2859246A-0674-144E-84D6-29D5891C06F8}"/>
              </a:ext>
            </a:extLst>
          </p:cNvPr>
          <p:cNvSpPr>
            <a:spLocks noGrp="1"/>
          </p:cNvSpPr>
          <p:nvPr>
            <p:ph type="title" hasCustomPrompt="1"/>
          </p:nvPr>
        </p:nvSpPr>
        <p:spPr>
          <a:xfrm>
            <a:off x="581192" y="1304660"/>
            <a:ext cx="3863216" cy="1415976"/>
          </a:xfrm>
        </p:spPr>
        <p:txBody>
          <a:bodyPr anchor="t">
            <a:normAutofit/>
          </a:bodyPr>
          <a:lstStyle>
            <a:lvl1pPr>
              <a:defRPr sz="3400"/>
            </a:lvl1pPr>
          </a:lstStyle>
          <a:p>
            <a:r>
              <a:rPr lang="en-US" dirty="0"/>
              <a:t>Title goes here</a:t>
            </a:r>
          </a:p>
        </p:txBody>
      </p:sp>
    </p:spTree>
    <p:extLst>
      <p:ext uri="{BB962C8B-B14F-4D97-AF65-F5344CB8AC3E}">
        <p14:creationId xmlns:p14="http://schemas.microsoft.com/office/powerpoint/2010/main" val="371828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1">
            <a:extLst>
              <a:ext uri="{FF2B5EF4-FFF2-40B4-BE49-F238E27FC236}">
                <a16:creationId xmlns:a16="http://schemas.microsoft.com/office/drawing/2014/main" id="{360596E6-4DE9-A746-9D39-94401D2B4645}"/>
              </a:ext>
            </a:extLst>
          </p:cNvPr>
          <p:cNvSpPr/>
          <p:nvPr userDrawn="1"/>
        </p:nvSpPr>
        <p:spPr>
          <a:xfrm rot="16200000">
            <a:off x="3619401" y="2402840"/>
            <a:ext cx="1270001" cy="12701"/>
          </a:xfrm>
          <a:prstGeom prst="rect">
            <a:avLst/>
          </a:prstGeom>
          <a:solidFill>
            <a:srgbClr val="111111"/>
          </a:solidFill>
          <a:ln w="12700">
            <a:miter lim="400000"/>
          </a:ln>
        </p:spPr>
        <p:txBody>
          <a:bodyPr lIns="25400" tIns="25400" rIns="25400" bIns="25400" anchor="ctr"/>
          <a:lstStyle/>
          <a:p>
            <a:pPr algn="ctr">
              <a:defRPr sz="3200" spc="0">
                <a:solidFill>
                  <a:srgbClr val="000000"/>
                </a:solidFill>
                <a:latin typeface="Helvetica Light"/>
                <a:ea typeface="Helvetica Light"/>
                <a:cs typeface="Helvetica Light"/>
                <a:sym typeface="Helvetica Light"/>
              </a:defRPr>
            </a:pPr>
            <a:endParaRPr lang="en-US" sz="1600" noProof="0" dirty="0"/>
          </a:p>
        </p:txBody>
      </p:sp>
      <p:sp>
        <p:nvSpPr>
          <p:cNvPr id="14" name="Picture Placeholder 13">
            <a:extLst>
              <a:ext uri="{FF2B5EF4-FFF2-40B4-BE49-F238E27FC236}">
                <a16:creationId xmlns:a16="http://schemas.microsoft.com/office/drawing/2014/main" id="{14FCD294-AF1C-5E4C-A4DA-80CFCFA430D2}"/>
              </a:ext>
            </a:extLst>
          </p:cNvPr>
          <p:cNvSpPr>
            <a:spLocks noGrp="1"/>
          </p:cNvSpPr>
          <p:nvPr>
            <p:ph type="pic" sz="quarter" idx="13"/>
          </p:nvPr>
        </p:nvSpPr>
        <p:spPr>
          <a:xfrm>
            <a:off x="973138" y="917461"/>
            <a:ext cx="2205037" cy="4989627"/>
          </a:xfrm>
          <a:custGeom>
            <a:avLst/>
            <a:gdLst>
              <a:gd name="connsiteX0" fmla="*/ 0 w 2205037"/>
              <a:gd name="connsiteY0" fmla="*/ 0 h 4989627"/>
              <a:gd name="connsiteX1" fmla="*/ 2205037 w 2205037"/>
              <a:gd name="connsiteY1" fmla="*/ 0 h 4989627"/>
              <a:gd name="connsiteX2" fmla="*/ 2205037 w 2205037"/>
              <a:gd name="connsiteY2" fmla="*/ 4989627 h 4989627"/>
              <a:gd name="connsiteX3" fmla="*/ 0 w 2205037"/>
              <a:gd name="connsiteY3" fmla="*/ 4989627 h 4989627"/>
              <a:gd name="connsiteX4" fmla="*/ 0 w 2205037"/>
              <a:gd name="connsiteY4" fmla="*/ 4286290 h 4989627"/>
              <a:gd name="connsiteX5" fmla="*/ 809319 w 2205037"/>
              <a:gd name="connsiteY5" fmla="*/ 4286290 h 4989627"/>
              <a:gd name="connsiteX6" fmla="*/ 809319 w 2205037"/>
              <a:gd name="connsiteY6" fmla="*/ 3905289 h 4989627"/>
              <a:gd name="connsiteX7" fmla="*/ 0 w 2205037"/>
              <a:gd name="connsiteY7" fmla="*/ 3905289 h 498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5037" h="4989627">
                <a:moveTo>
                  <a:pt x="0" y="0"/>
                </a:moveTo>
                <a:lnTo>
                  <a:pt x="2205037" y="0"/>
                </a:lnTo>
                <a:lnTo>
                  <a:pt x="2205037" y="4989627"/>
                </a:lnTo>
                <a:lnTo>
                  <a:pt x="0" y="4989627"/>
                </a:lnTo>
                <a:lnTo>
                  <a:pt x="0" y="4286290"/>
                </a:lnTo>
                <a:lnTo>
                  <a:pt x="809319" y="4286290"/>
                </a:lnTo>
                <a:lnTo>
                  <a:pt x="809319" y="3905289"/>
                </a:lnTo>
                <a:lnTo>
                  <a:pt x="0" y="3905289"/>
                </a:lnTo>
                <a:close/>
              </a:path>
            </a:pathLst>
          </a:custGeom>
          <a:solidFill>
            <a:schemeClr val="tx2"/>
          </a:solidFill>
        </p:spPr>
        <p:txBody>
          <a:bodyPr wrap="square">
            <a:noAutofit/>
          </a:bodyPr>
          <a:lstStyle/>
          <a:p>
            <a:r>
              <a:rPr lang="en-US" smtClean="0"/>
              <a:t>Click icon to add picture</a:t>
            </a:r>
            <a:endParaRPr lang="en-US" dirty="0"/>
          </a:p>
        </p:txBody>
      </p:sp>
      <p:sp>
        <p:nvSpPr>
          <p:cNvPr id="15" name="Rectangle 1">
            <a:extLst>
              <a:ext uri="{FF2B5EF4-FFF2-40B4-BE49-F238E27FC236}">
                <a16:creationId xmlns:a16="http://schemas.microsoft.com/office/drawing/2014/main" id="{8EDF2123-85B2-F547-8D7A-F0273E1E9E85}"/>
              </a:ext>
            </a:extLst>
          </p:cNvPr>
          <p:cNvSpPr/>
          <p:nvPr userDrawn="1"/>
        </p:nvSpPr>
        <p:spPr>
          <a:xfrm>
            <a:off x="764089" y="4824593"/>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8" name="Title 1">
            <a:extLst>
              <a:ext uri="{FF2B5EF4-FFF2-40B4-BE49-F238E27FC236}">
                <a16:creationId xmlns:a16="http://schemas.microsoft.com/office/drawing/2014/main" id="{51DA15C9-6722-0B47-897A-7DC9AED35B7C}"/>
              </a:ext>
            </a:extLst>
          </p:cNvPr>
          <p:cNvSpPr>
            <a:spLocks noGrp="1"/>
          </p:cNvSpPr>
          <p:nvPr>
            <p:ph type="title" hasCustomPrompt="1"/>
          </p:nvPr>
        </p:nvSpPr>
        <p:spPr>
          <a:xfrm>
            <a:off x="4248051" y="2945525"/>
            <a:ext cx="2945494" cy="1613201"/>
          </a:xfrm>
        </p:spPr>
        <p:txBody>
          <a:bodyPr lIns="0" tIns="0" rIns="0" bIns="0" anchor="b">
            <a:normAutofit/>
          </a:bodyPr>
          <a:lstStyle>
            <a:lvl1pPr>
              <a:defRPr sz="3400"/>
            </a:lvl1pPr>
          </a:lstStyle>
          <a:p>
            <a:r>
              <a:rPr lang="en-US" dirty="0"/>
              <a:t>TITLE GOES HERE</a:t>
            </a:r>
          </a:p>
        </p:txBody>
      </p:sp>
      <p:sp>
        <p:nvSpPr>
          <p:cNvPr id="22" name="Content Placeholder 20">
            <a:extLst>
              <a:ext uri="{FF2B5EF4-FFF2-40B4-BE49-F238E27FC236}">
                <a16:creationId xmlns:a16="http://schemas.microsoft.com/office/drawing/2014/main" id="{5FFB748F-E999-9A4B-B9D8-B6E1C2AE0134}"/>
              </a:ext>
            </a:extLst>
          </p:cNvPr>
          <p:cNvSpPr>
            <a:spLocks noGrp="1"/>
          </p:cNvSpPr>
          <p:nvPr>
            <p:ph sz="quarter" idx="14"/>
          </p:nvPr>
        </p:nvSpPr>
        <p:spPr>
          <a:xfrm>
            <a:off x="7405688" y="2005013"/>
            <a:ext cx="4510087" cy="40274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5821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placeholder.jpg">
            <a:extLst>
              <a:ext uri="{FF2B5EF4-FFF2-40B4-BE49-F238E27FC236}">
                <a16:creationId xmlns:a16="http://schemas.microsoft.com/office/drawing/2014/main" id="{D447DA2F-5DA0-834C-9AFA-DC4F7B4ECCDC}"/>
              </a:ext>
            </a:extLst>
          </p:cNvPr>
          <p:cNvSpPr>
            <a:spLocks noGrp="1"/>
          </p:cNvSpPr>
          <p:nvPr>
            <p:ph type="pic" sz="quarter" idx="13"/>
          </p:nvPr>
        </p:nvSpPr>
        <p:spPr>
          <a:xfrm>
            <a:off x="10128308" y="717550"/>
            <a:ext cx="2063601" cy="4953001"/>
          </a:xfrm>
          <a:prstGeom prst="rect">
            <a:avLst/>
          </a:prstGeom>
          <a:solidFill>
            <a:schemeClr val="tx2"/>
          </a:solidFill>
        </p:spPr>
        <p:txBody>
          <a:bodyPr lIns="91439" tIns="45719" rIns="91439" bIns="45719">
            <a:noAutofit/>
          </a:bodyPr>
          <a:lstStyle/>
          <a:p>
            <a:r>
              <a:rPr lang="en-US" noProof="0" smtClean="0"/>
              <a:t>Click icon to add picture</a:t>
            </a:r>
            <a:endParaRPr lang="en-US" noProof="0"/>
          </a:p>
        </p:txBody>
      </p:sp>
      <p:sp>
        <p:nvSpPr>
          <p:cNvPr id="10" name="Picture Placeholder 9">
            <a:extLst>
              <a:ext uri="{FF2B5EF4-FFF2-40B4-BE49-F238E27FC236}">
                <a16:creationId xmlns:a16="http://schemas.microsoft.com/office/drawing/2014/main" id="{0292654E-1088-3C42-A573-2CBF48FA3324}"/>
              </a:ext>
            </a:extLst>
          </p:cNvPr>
          <p:cNvSpPr>
            <a:spLocks noGrp="1"/>
          </p:cNvSpPr>
          <p:nvPr>
            <p:ph type="pic" sz="quarter" idx="14"/>
          </p:nvPr>
        </p:nvSpPr>
        <p:spPr>
          <a:xfrm>
            <a:off x="1274457" y="3168650"/>
            <a:ext cx="3367194" cy="3689350"/>
          </a:xfrm>
          <a:custGeom>
            <a:avLst/>
            <a:gdLst>
              <a:gd name="connsiteX0" fmla="*/ 0 w 3367194"/>
              <a:gd name="connsiteY0" fmla="*/ 0 h 3689350"/>
              <a:gd name="connsiteX1" fmla="*/ 3367194 w 3367194"/>
              <a:gd name="connsiteY1" fmla="*/ 0 h 3689350"/>
              <a:gd name="connsiteX2" fmla="*/ 3367194 w 3367194"/>
              <a:gd name="connsiteY2" fmla="*/ 3689350 h 3689350"/>
              <a:gd name="connsiteX3" fmla="*/ 0 w 3367194"/>
              <a:gd name="connsiteY3" fmla="*/ 3689350 h 3689350"/>
              <a:gd name="connsiteX4" fmla="*/ 0 w 3367194"/>
              <a:gd name="connsiteY4" fmla="*/ 2035101 h 3689350"/>
              <a:gd name="connsiteX5" fmla="*/ 508000 w 3367194"/>
              <a:gd name="connsiteY5" fmla="*/ 2035101 h 3689350"/>
              <a:gd name="connsiteX6" fmla="*/ 508000 w 3367194"/>
              <a:gd name="connsiteY6" fmla="*/ 1654100 h 3689350"/>
              <a:gd name="connsiteX7" fmla="*/ 0 w 3367194"/>
              <a:gd name="connsiteY7" fmla="*/ 1654100 h 368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7194" h="3689350">
                <a:moveTo>
                  <a:pt x="0" y="0"/>
                </a:moveTo>
                <a:lnTo>
                  <a:pt x="3367194" y="0"/>
                </a:lnTo>
                <a:lnTo>
                  <a:pt x="3367194" y="3689350"/>
                </a:lnTo>
                <a:lnTo>
                  <a:pt x="0" y="3689350"/>
                </a:lnTo>
                <a:lnTo>
                  <a:pt x="0" y="2035101"/>
                </a:lnTo>
                <a:lnTo>
                  <a:pt x="508000" y="2035101"/>
                </a:lnTo>
                <a:lnTo>
                  <a:pt x="508000" y="1654100"/>
                </a:lnTo>
                <a:lnTo>
                  <a:pt x="0" y="1654100"/>
                </a:lnTo>
                <a:close/>
              </a:path>
            </a:pathLst>
          </a:custGeom>
          <a:solidFill>
            <a:schemeClr val="tx2"/>
          </a:solidFill>
        </p:spPr>
        <p:txBody>
          <a:bodyPr wrap="square" lIns="91439" tIns="45719" rIns="91439" bIns="45719">
            <a:noAutofit/>
          </a:bodyPr>
          <a:lstStyle/>
          <a:p>
            <a:r>
              <a:rPr lang="en-US" noProof="0" smtClean="0"/>
              <a:t>Click icon to add picture</a:t>
            </a:r>
            <a:endParaRPr lang="en-US" noProof="0"/>
          </a:p>
        </p:txBody>
      </p:sp>
      <p:sp>
        <p:nvSpPr>
          <p:cNvPr id="7" name="placeholder.jpg">
            <a:extLst>
              <a:ext uri="{FF2B5EF4-FFF2-40B4-BE49-F238E27FC236}">
                <a16:creationId xmlns:a16="http://schemas.microsoft.com/office/drawing/2014/main" id="{098C8554-580A-2442-9906-28A71B624A68}"/>
              </a:ext>
            </a:extLst>
          </p:cNvPr>
          <p:cNvSpPr>
            <a:spLocks noGrp="1"/>
          </p:cNvSpPr>
          <p:nvPr>
            <p:ph type="pic" sz="quarter" idx="15"/>
          </p:nvPr>
        </p:nvSpPr>
        <p:spPr>
          <a:xfrm>
            <a:off x="1274457" y="0"/>
            <a:ext cx="3367194" cy="2667000"/>
          </a:xfrm>
          <a:prstGeom prst="rect">
            <a:avLst/>
          </a:prstGeom>
          <a:solidFill>
            <a:schemeClr val="tx2"/>
          </a:solidFill>
        </p:spPr>
        <p:txBody>
          <a:bodyPr lIns="91439" tIns="45719" rIns="91439" bIns="45719">
            <a:noAutofit/>
          </a:bodyPr>
          <a:lstStyle/>
          <a:p>
            <a:r>
              <a:rPr lang="en-US" noProof="0" smtClean="0"/>
              <a:t>Click icon to add picture</a:t>
            </a:r>
            <a:endParaRPr lang="en-US" noProof="0"/>
          </a:p>
        </p:txBody>
      </p:sp>
      <p:sp>
        <p:nvSpPr>
          <p:cNvPr id="11" name="Rectangle 1">
            <a:extLst>
              <a:ext uri="{FF2B5EF4-FFF2-40B4-BE49-F238E27FC236}">
                <a16:creationId xmlns:a16="http://schemas.microsoft.com/office/drawing/2014/main" id="{4DD41584-4B5C-2B41-B712-6810C565BC56}"/>
              </a:ext>
            </a:extLst>
          </p:cNvPr>
          <p:cNvSpPr/>
          <p:nvPr userDrawn="1"/>
        </p:nvSpPr>
        <p:spPr>
          <a:xfrm>
            <a:off x="766456" y="4822750"/>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2" name="Rectangle 1">
            <a:extLst>
              <a:ext uri="{FF2B5EF4-FFF2-40B4-BE49-F238E27FC236}">
                <a16:creationId xmlns:a16="http://schemas.microsoft.com/office/drawing/2014/main" id="{BCFE255A-D792-824C-B7BD-0F53CCBE9393}"/>
              </a:ext>
            </a:extLst>
          </p:cNvPr>
          <p:cNvSpPr/>
          <p:nvPr userDrawn="1"/>
        </p:nvSpPr>
        <p:spPr>
          <a:xfrm>
            <a:off x="9493307" y="290195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dirty="0"/>
          </a:p>
        </p:txBody>
      </p:sp>
      <p:sp>
        <p:nvSpPr>
          <p:cNvPr id="13" name="Rectangle 1">
            <a:extLst>
              <a:ext uri="{FF2B5EF4-FFF2-40B4-BE49-F238E27FC236}">
                <a16:creationId xmlns:a16="http://schemas.microsoft.com/office/drawing/2014/main" id="{C5F7BCC5-255A-E040-9CB6-55FC42CEBF16}"/>
              </a:ext>
            </a:extLst>
          </p:cNvPr>
          <p:cNvSpPr/>
          <p:nvPr userDrawn="1"/>
        </p:nvSpPr>
        <p:spPr>
          <a:xfrm rot="16200000">
            <a:off x="3519629" y="227330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dirty="0"/>
          </a:p>
        </p:txBody>
      </p:sp>
      <p:sp>
        <p:nvSpPr>
          <p:cNvPr id="16" name="Title 1">
            <a:extLst>
              <a:ext uri="{FF2B5EF4-FFF2-40B4-BE49-F238E27FC236}">
                <a16:creationId xmlns:a16="http://schemas.microsoft.com/office/drawing/2014/main" id="{A015DDBE-BC7A-D046-BEA1-79A44722B1F7}"/>
              </a:ext>
            </a:extLst>
          </p:cNvPr>
          <p:cNvSpPr>
            <a:spLocks noGrp="1"/>
          </p:cNvSpPr>
          <p:nvPr>
            <p:ph type="title" hasCustomPrompt="1"/>
          </p:nvPr>
        </p:nvSpPr>
        <p:spPr>
          <a:xfrm>
            <a:off x="6152484" y="3486000"/>
            <a:ext cx="3658324" cy="1613201"/>
          </a:xfrm>
        </p:spPr>
        <p:txBody>
          <a:bodyPr lIns="0" tIns="0" rIns="0" bIns="0" anchor="ctr">
            <a:normAutofit/>
          </a:bodyPr>
          <a:lstStyle>
            <a:lvl1pPr>
              <a:defRPr sz="3400"/>
            </a:lvl1pPr>
          </a:lstStyle>
          <a:p>
            <a:r>
              <a:rPr lang="en-US" dirty="0"/>
              <a:t>TITLE GOES HERE</a:t>
            </a:r>
          </a:p>
        </p:txBody>
      </p:sp>
    </p:spTree>
    <p:extLst>
      <p:ext uri="{BB962C8B-B14F-4D97-AF65-F5344CB8AC3E}">
        <p14:creationId xmlns:p14="http://schemas.microsoft.com/office/powerpoint/2010/main" val="2926791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1">
            <a:extLst>
              <a:ext uri="{FF2B5EF4-FFF2-40B4-BE49-F238E27FC236}">
                <a16:creationId xmlns:a16="http://schemas.microsoft.com/office/drawing/2014/main" id="{D6BDBD8F-0811-E743-8D29-95FBA6111DCA}"/>
              </a:ext>
            </a:extLst>
          </p:cNvPr>
          <p:cNvSpPr/>
          <p:nvPr userDrawn="1"/>
        </p:nvSpPr>
        <p:spPr>
          <a:xfrm>
            <a:off x="5216208" y="-1"/>
            <a:ext cx="6975793" cy="6858001"/>
          </a:xfrm>
          <a:prstGeom prst="rect">
            <a:avLst/>
          </a:prstGeom>
          <a:solidFill>
            <a:schemeClr val="tx2"/>
          </a:solidFill>
          <a:ln w="12700">
            <a:miter lim="400000"/>
          </a:ln>
        </p:spPr>
        <p:txBody>
          <a:bodyPr lIns="25400" tIns="25400" rIns="25400" bIns="25400" anchor="ctr"/>
          <a:lstStyle/>
          <a:p>
            <a:pPr algn="ctr">
              <a:defRPr sz="3200" spc="0">
                <a:solidFill>
                  <a:srgbClr val="FFFFFF"/>
                </a:solidFill>
                <a:latin typeface="Helvetica Light"/>
                <a:ea typeface="Helvetica Light"/>
                <a:cs typeface="Helvetica Light"/>
                <a:sym typeface="Helvetica Light"/>
              </a:defRPr>
            </a:pPr>
            <a:endParaRPr lang="en-US" sz="1600" noProof="0"/>
          </a:p>
        </p:txBody>
      </p:sp>
      <p:sp>
        <p:nvSpPr>
          <p:cNvPr id="6" name="Rectangle 1">
            <a:extLst>
              <a:ext uri="{FF2B5EF4-FFF2-40B4-BE49-F238E27FC236}">
                <a16:creationId xmlns:a16="http://schemas.microsoft.com/office/drawing/2014/main" id="{5D8F780B-398B-314B-87F1-35307B42F72E}"/>
              </a:ext>
            </a:extLst>
          </p:cNvPr>
          <p:cNvSpPr/>
          <p:nvPr userDrawn="1"/>
        </p:nvSpPr>
        <p:spPr>
          <a:xfrm rot="16200000">
            <a:off x="797983" y="294005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a:p>
        </p:txBody>
      </p:sp>
      <p:sp>
        <p:nvSpPr>
          <p:cNvPr id="8" name="Rectangle 1">
            <a:extLst>
              <a:ext uri="{FF2B5EF4-FFF2-40B4-BE49-F238E27FC236}">
                <a16:creationId xmlns:a16="http://schemas.microsoft.com/office/drawing/2014/main" id="{D1EE7A36-F988-7C4A-A854-1D7E6E70D021}"/>
              </a:ext>
            </a:extLst>
          </p:cNvPr>
          <p:cNvSpPr/>
          <p:nvPr userDrawn="1"/>
        </p:nvSpPr>
        <p:spPr>
          <a:xfrm>
            <a:off x="4673599" y="604043"/>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9" name="Title 1">
            <a:extLst>
              <a:ext uri="{FF2B5EF4-FFF2-40B4-BE49-F238E27FC236}">
                <a16:creationId xmlns:a16="http://schemas.microsoft.com/office/drawing/2014/main" id="{979BAFF7-5B8A-F446-87E9-6B4851CCF1C0}"/>
              </a:ext>
            </a:extLst>
          </p:cNvPr>
          <p:cNvSpPr>
            <a:spLocks noGrp="1"/>
          </p:cNvSpPr>
          <p:nvPr>
            <p:ph type="title" hasCustomPrompt="1"/>
          </p:nvPr>
        </p:nvSpPr>
        <p:spPr>
          <a:xfrm>
            <a:off x="1426632" y="4035869"/>
            <a:ext cx="3658324" cy="1613201"/>
          </a:xfrm>
        </p:spPr>
        <p:txBody>
          <a:bodyPr lIns="0" tIns="0" rIns="0" bIns="0" anchor="b">
            <a:normAutofit/>
          </a:bodyPr>
          <a:lstStyle>
            <a:lvl1pPr>
              <a:defRPr sz="3400"/>
            </a:lvl1pPr>
          </a:lstStyle>
          <a:p>
            <a:r>
              <a:rPr lang="en-US" dirty="0"/>
              <a:t>TITLE GOES HERE</a:t>
            </a:r>
          </a:p>
        </p:txBody>
      </p:sp>
      <p:sp>
        <p:nvSpPr>
          <p:cNvPr id="11" name="Content Placeholder 10">
            <a:extLst>
              <a:ext uri="{FF2B5EF4-FFF2-40B4-BE49-F238E27FC236}">
                <a16:creationId xmlns:a16="http://schemas.microsoft.com/office/drawing/2014/main" id="{95663095-8E7E-6049-8528-84CCDFA93AF6}"/>
              </a:ext>
            </a:extLst>
          </p:cNvPr>
          <p:cNvSpPr>
            <a:spLocks noGrp="1"/>
          </p:cNvSpPr>
          <p:nvPr>
            <p:ph sz="quarter" idx="13"/>
          </p:nvPr>
        </p:nvSpPr>
        <p:spPr>
          <a:xfrm>
            <a:off x="6016689" y="878177"/>
            <a:ext cx="5341775" cy="52518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80494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9E887ACE-210F-4A8A-A033-E24FD239D1BB}"/>
              </a:ext>
            </a:extLst>
          </p:cNvPr>
          <p:cNvSpPr/>
          <p:nvPr userDrawn="1"/>
        </p:nvSpPr>
        <p:spPr>
          <a:xfrm>
            <a:off x="0" y="-1"/>
            <a:ext cx="6975793" cy="6858001"/>
          </a:xfrm>
          <a:prstGeom prst="rect">
            <a:avLst/>
          </a:prstGeom>
          <a:solidFill>
            <a:schemeClr val="tx2"/>
          </a:solidFill>
          <a:ln w="12700">
            <a:miter lim="400000"/>
          </a:ln>
        </p:spPr>
        <p:txBody>
          <a:bodyPr lIns="25400" tIns="25400" rIns="25400" bIns="25400" anchor="ctr"/>
          <a:lstStyle/>
          <a:p>
            <a:pPr algn="ctr">
              <a:defRPr sz="3200" spc="0">
                <a:solidFill>
                  <a:srgbClr val="FFFFFF"/>
                </a:solidFill>
                <a:latin typeface="Helvetica Light"/>
                <a:ea typeface="Helvetica Light"/>
                <a:cs typeface="Helvetica Light"/>
                <a:sym typeface="Helvetica Light"/>
              </a:defRPr>
            </a:pPr>
            <a:endParaRPr lang="en-US" sz="1600" noProof="0"/>
          </a:p>
        </p:txBody>
      </p:sp>
      <p:sp>
        <p:nvSpPr>
          <p:cNvPr id="11" name="Content Placeholder 10">
            <a:extLst>
              <a:ext uri="{FF2B5EF4-FFF2-40B4-BE49-F238E27FC236}">
                <a16:creationId xmlns:a16="http://schemas.microsoft.com/office/drawing/2014/main" id="{95663095-8E7E-6049-8528-84CCDFA93AF6}"/>
              </a:ext>
            </a:extLst>
          </p:cNvPr>
          <p:cNvSpPr>
            <a:spLocks noGrp="1"/>
          </p:cNvSpPr>
          <p:nvPr>
            <p:ph sz="quarter" idx="13"/>
          </p:nvPr>
        </p:nvSpPr>
        <p:spPr>
          <a:xfrm>
            <a:off x="754225" y="878177"/>
            <a:ext cx="5341775" cy="52518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6" name="Rectangle 1">
            <a:extLst>
              <a:ext uri="{FF2B5EF4-FFF2-40B4-BE49-F238E27FC236}">
                <a16:creationId xmlns:a16="http://schemas.microsoft.com/office/drawing/2014/main" id="{5D8F780B-398B-314B-87F1-35307B42F72E}"/>
              </a:ext>
            </a:extLst>
          </p:cNvPr>
          <p:cNvSpPr/>
          <p:nvPr userDrawn="1"/>
        </p:nvSpPr>
        <p:spPr>
          <a:xfrm rot="16200000">
            <a:off x="7326450" y="294005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a:p>
        </p:txBody>
      </p:sp>
      <p:sp>
        <p:nvSpPr>
          <p:cNvPr id="8" name="Rectangle 1">
            <a:extLst>
              <a:ext uri="{FF2B5EF4-FFF2-40B4-BE49-F238E27FC236}">
                <a16:creationId xmlns:a16="http://schemas.microsoft.com/office/drawing/2014/main" id="{D1EE7A36-F988-7C4A-A854-1D7E6E70D021}"/>
              </a:ext>
            </a:extLst>
          </p:cNvPr>
          <p:cNvSpPr/>
          <p:nvPr userDrawn="1"/>
        </p:nvSpPr>
        <p:spPr>
          <a:xfrm>
            <a:off x="6482401" y="604043"/>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9" name="Title 1">
            <a:extLst>
              <a:ext uri="{FF2B5EF4-FFF2-40B4-BE49-F238E27FC236}">
                <a16:creationId xmlns:a16="http://schemas.microsoft.com/office/drawing/2014/main" id="{979BAFF7-5B8A-F446-87E9-6B4851CCF1C0}"/>
              </a:ext>
            </a:extLst>
          </p:cNvPr>
          <p:cNvSpPr>
            <a:spLocks noGrp="1"/>
          </p:cNvSpPr>
          <p:nvPr>
            <p:ph type="title" hasCustomPrompt="1"/>
          </p:nvPr>
        </p:nvSpPr>
        <p:spPr>
          <a:xfrm>
            <a:off x="7955099" y="4035869"/>
            <a:ext cx="3658324" cy="1613201"/>
          </a:xfrm>
        </p:spPr>
        <p:txBody>
          <a:bodyPr lIns="0" tIns="0" rIns="0" bIns="0" anchor="b">
            <a:normAutofit/>
          </a:bodyPr>
          <a:lstStyle>
            <a:lvl1pPr>
              <a:defRPr sz="3400"/>
            </a:lvl1pPr>
          </a:lstStyle>
          <a:p>
            <a:r>
              <a:rPr lang="en-US" dirty="0"/>
              <a:t>TITLE GOES HERE</a:t>
            </a:r>
          </a:p>
        </p:txBody>
      </p:sp>
    </p:spTree>
    <p:extLst>
      <p:ext uri="{BB962C8B-B14F-4D97-AF65-F5344CB8AC3E}">
        <p14:creationId xmlns:p14="http://schemas.microsoft.com/office/powerpoint/2010/main" val="2518009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noProof="0" smtClean="0"/>
              <a:t>11/14/2025</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5" name="Rectangle 1">
            <a:extLst>
              <a:ext uri="{FF2B5EF4-FFF2-40B4-BE49-F238E27FC236}">
                <a16:creationId xmlns:a16="http://schemas.microsoft.com/office/drawing/2014/main" id="{B5C4D9A4-C8E3-4644-9D63-86142FA59A02}"/>
              </a:ext>
            </a:extLst>
          </p:cNvPr>
          <p:cNvSpPr/>
          <p:nvPr userDrawn="1"/>
        </p:nvSpPr>
        <p:spPr>
          <a:xfrm>
            <a:off x="952500" y="952500"/>
            <a:ext cx="10287000" cy="4953000"/>
          </a:xfrm>
          <a:prstGeom prst="rect">
            <a:avLst/>
          </a:prstGeom>
          <a:solidFill>
            <a:schemeClr val="tx2"/>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6" name="Rectangle 1">
            <a:extLst>
              <a:ext uri="{FF2B5EF4-FFF2-40B4-BE49-F238E27FC236}">
                <a16:creationId xmlns:a16="http://schemas.microsoft.com/office/drawing/2014/main" id="{7047AEE3-4D24-FE4F-BC8C-1050F33A970F}"/>
              </a:ext>
            </a:extLst>
          </p:cNvPr>
          <p:cNvSpPr/>
          <p:nvPr userDrawn="1"/>
        </p:nvSpPr>
        <p:spPr>
          <a:xfrm rot="16200000">
            <a:off x="5454650" y="1104900"/>
            <a:ext cx="1270000" cy="12700"/>
          </a:xfrm>
          <a:prstGeom prst="rect">
            <a:avLst/>
          </a:prstGeom>
          <a:solidFill>
            <a:srgbClr val="24282B"/>
          </a:solidFill>
          <a:ln w="12700">
            <a:miter lim="400000"/>
          </a:ln>
        </p:spPr>
        <p:txBody>
          <a:bodyPr lIns="25400" tIns="25400" rIns="25400" bIns="25400" anchor="ctr"/>
          <a:lstStyle/>
          <a:p>
            <a:pPr algn="ctr" defTabSz="412750" hangingPunct="0">
              <a:defRPr sz="3200" spc="0">
                <a:solidFill>
                  <a:srgbClr val="0433FF"/>
                </a:solidFill>
                <a:latin typeface="Helvetica Light"/>
                <a:ea typeface="Helvetica Light"/>
                <a:cs typeface="Helvetica Light"/>
                <a:sym typeface="Helvetica Light"/>
              </a:defRPr>
            </a:pPr>
            <a:endParaRPr lang="en-US" sz="1600" kern="0" noProof="0" dirty="0">
              <a:solidFill>
                <a:srgbClr val="0433FF"/>
              </a:solidFill>
              <a:latin typeface="Helvetica Light"/>
              <a:sym typeface="Helvetica Light"/>
            </a:endParaRPr>
          </a:p>
        </p:txBody>
      </p:sp>
      <p:sp>
        <p:nvSpPr>
          <p:cNvPr id="7" name="Rectangle 1">
            <a:extLst>
              <a:ext uri="{FF2B5EF4-FFF2-40B4-BE49-F238E27FC236}">
                <a16:creationId xmlns:a16="http://schemas.microsoft.com/office/drawing/2014/main" id="{2B45386C-7F1B-4D47-959C-DE1A73B407E7}"/>
              </a:ext>
            </a:extLst>
          </p:cNvPr>
          <p:cNvSpPr/>
          <p:nvPr userDrawn="1"/>
        </p:nvSpPr>
        <p:spPr>
          <a:xfrm>
            <a:off x="431799" y="136524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8" name="Rectangle 1">
            <a:extLst>
              <a:ext uri="{FF2B5EF4-FFF2-40B4-BE49-F238E27FC236}">
                <a16:creationId xmlns:a16="http://schemas.microsoft.com/office/drawing/2014/main" id="{FB1C5AC5-B8E6-EC4F-8CB9-43E091C422EF}"/>
              </a:ext>
            </a:extLst>
          </p:cNvPr>
          <p:cNvSpPr/>
          <p:nvPr userDrawn="1"/>
        </p:nvSpPr>
        <p:spPr>
          <a:xfrm>
            <a:off x="10731499" y="506537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11" name="Title 1">
            <a:extLst>
              <a:ext uri="{FF2B5EF4-FFF2-40B4-BE49-F238E27FC236}">
                <a16:creationId xmlns:a16="http://schemas.microsoft.com/office/drawing/2014/main" id="{33ACFFFD-2D44-B943-8B58-CC9B7641E79D}"/>
              </a:ext>
            </a:extLst>
          </p:cNvPr>
          <p:cNvSpPr>
            <a:spLocks noGrp="1"/>
          </p:cNvSpPr>
          <p:nvPr>
            <p:ph type="title" hasCustomPrompt="1"/>
          </p:nvPr>
        </p:nvSpPr>
        <p:spPr>
          <a:xfrm>
            <a:off x="1443567" y="3019274"/>
            <a:ext cx="9304867" cy="1613201"/>
          </a:xfrm>
        </p:spPr>
        <p:txBody>
          <a:bodyPr lIns="0" tIns="0" rIns="0" bIns="0" anchor="ctr">
            <a:normAutofit/>
          </a:bodyPr>
          <a:lstStyle>
            <a:lvl1pPr algn="ctr">
              <a:defRPr sz="3400">
                <a:solidFill>
                  <a:schemeClr val="bg1"/>
                </a:solidFill>
              </a:defRPr>
            </a:lvl1pPr>
          </a:lstStyle>
          <a:p>
            <a:r>
              <a:rPr lang="en-US" noProof="0"/>
              <a:t>TITLE GOES HERE</a:t>
            </a:r>
          </a:p>
        </p:txBody>
      </p:sp>
      <p:sp>
        <p:nvSpPr>
          <p:cNvPr id="13" name="Content Placeholder 13">
            <a:extLst>
              <a:ext uri="{FF2B5EF4-FFF2-40B4-BE49-F238E27FC236}">
                <a16:creationId xmlns:a16="http://schemas.microsoft.com/office/drawing/2014/main" id="{8E96E8CE-45C0-D643-B7F3-08C20CF5F760}"/>
              </a:ext>
            </a:extLst>
          </p:cNvPr>
          <p:cNvSpPr>
            <a:spLocks noGrp="1"/>
          </p:cNvSpPr>
          <p:nvPr>
            <p:ph sz="quarter" idx="21" hasCustomPrompt="1"/>
          </p:nvPr>
        </p:nvSpPr>
        <p:spPr>
          <a:xfrm>
            <a:off x="4437501" y="2348318"/>
            <a:ext cx="3316999" cy="269370"/>
          </a:xfrm>
        </p:spPr>
        <p:txBody>
          <a:bodyPr>
            <a:noAutofit/>
          </a:bodyPr>
          <a:lstStyle>
            <a:lvl1pPr marL="0" indent="0" algn="ctr">
              <a:lnSpc>
                <a:spcPct val="80000"/>
              </a:lnSpc>
              <a:buNone/>
              <a:defRPr sz="1600" cap="all" baseline="0">
                <a:solidFill>
                  <a:schemeClr val="bg1"/>
                </a:solidFill>
                <a:latin typeface="+mj-lt"/>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noProof="0"/>
              <a:t>SUBTITLE GOES HERE</a:t>
            </a:r>
          </a:p>
        </p:txBody>
      </p:sp>
    </p:spTree>
    <p:extLst>
      <p:ext uri="{BB962C8B-B14F-4D97-AF65-F5344CB8AC3E}">
        <p14:creationId xmlns:p14="http://schemas.microsoft.com/office/powerpoint/2010/main" val="195263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15" name="Rectangle 1">
            <a:extLst>
              <a:ext uri="{FF2B5EF4-FFF2-40B4-BE49-F238E27FC236}">
                <a16:creationId xmlns:a16="http://schemas.microsoft.com/office/drawing/2014/main" id="{F70F810B-4DED-A045-A1D2-7605E821997B}"/>
              </a:ext>
            </a:extLst>
          </p:cNvPr>
          <p:cNvSpPr/>
          <p:nvPr userDrawn="1"/>
        </p:nvSpPr>
        <p:spPr>
          <a:xfrm>
            <a:off x="0" y="4735651"/>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7" name="Title 1">
            <a:extLst>
              <a:ext uri="{FF2B5EF4-FFF2-40B4-BE49-F238E27FC236}">
                <a16:creationId xmlns:a16="http://schemas.microsoft.com/office/drawing/2014/main" id="{3194DD3B-943C-8740-A545-0DA0E5FD2569}"/>
              </a:ext>
            </a:extLst>
          </p:cNvPr>
          <p:cNvSpPr>
            <a:spLocks noGrp="1"/>
          </p:cNvSpPr>
          <p:nvPr>
            <p:ph type="title" hasCustomPrompt="1"/>
          </p:nvPr>
        </p:nvSpPr>
        <p:spPr>
          <a:xfrm>
            <a:off x="1426632" y="4651968"/>
            <a:ext cx="3658324" cy="997102"/>
          </a:xfrm>
        </p:spPr>
        <p:txBody>
          <a:bodyPr lIns="0" tIns="0" rIns="0" bIns="0" anchor="t">
            <a:normAutofit/>
          </a:bodyPr>
          <a:lstStyle>
            <a:lvl1pPr>
              <a:defRPr sz="3400"/>
            </a:lvl1pPr>
          </a:lstStyle>
          <a:p>
            <a:r>
              <a:rPr lang="en-US" noProof="0"/>
              <a:t>TITLE GOES HERE</a:t>
            </a:r>
          </a:p>
        </p:txBody>
      </p:sp>
      <p:sp>
        <p:nvSpPr>
          <p:cNvPr id="18" name="Rectangle 1">
            <a:extLst>
              <a:ext uri="{FF2B5EF4-FFF2-40B4-BE49-F238E27FC236}">
                <a16:creationId xmlns:a16="http://schemas.microsoft.com/office/drawing/2014/main" id="{93D5DD3F-FCDF-5945-9321-0FABA0771516}"/>
              </a:ext>
            </a:extLst>
          </p:cNvPr>
          <p:cNvSpPr/>
          <p:nvPr userDrawn="1"/>
        </p:nvSpPr>
        <p:spPr>
          <a:xfrm rot="16200000">
            <a:off x="5467350" y="2065417"/>
            <a:ext cx="1270000" cy="12701"/>
          </a:xfrm>
          <a:prstGeom prst="rect">
            <a:avLst/>
          </a:prstGeom>
          <a:solidFill>
            <a:srgbClr val="24282B"/>
          </a:solidFill>
          <a:ln w="12700">
            <a:miter lim="400000"/>
          </a:ln>
        </p:spPr>
        <p:txBody>
          <a:bodyPr lIns="25400" tIns="25400" rIns="25400" bIns="25400" anchor="ctr"/>
          <a:lstStyle/>
          <a:p>
            <a:pPr algn="ctr" defTabSz="412750" hangingPunct="0">
              <a:defRPr sz="3200" spc="0">
                <a:solidFill>
                  <a:srgbClr val="0433FF"/>
                </a:solidFill>
                <a:latin typeface="Helvetica Light"/>
                <a:ea typeface="Helvetica Light"/>
                <a:cs typeface="Helvetica Light"/>
                <a:sym typeface="Helvetica Light"/>
              </a:defRPr>
            </a:pPr>
            <a:endParaRPr lang="en-US" sz="1600" kern="0" noProof="0" dirty="0">
              <a:solidFill>
                <a:srgbClr val="0433FF"/>
              </a:solidFill>
              <a:latin typeface="Helvetica Light"/>
              <a:sym typeface="Helvetica Light"/>
            </a:endParaRPr>
          </a:p>
        </p:txBody>
      </p:sp>
      <p:sp>
        <p:nvSpPr>
          <p:cNvPr id="22" name="Text Placeholder 20">
            <a:extLst>
              <a:ext uri="{FF2B5EF4-FFF2-40B4-BE49-F238E27FC236}">
                <a16:creationId xmlns:a16="http://schemas.microsoft.com/office/drawing/2014/main" id="{B8877488-477F-0041-88BE-F780F1C66A10}"/>
              </a:ext>
            </a:extLst>
          </p:cNvPr>
          <p:cNvSpPr>
            <a:spLocks noGrp="1"/>
          </p:cNvSpPr>
          <p:nvPr>
            <p:ph type="body" sz="quarter" idx="14"/>
          </p:nvPr>
        </p:nvSpPr>
        <p:spPr>
          <a:xfrm>
            <a:off x="6616172" y="0"/>
            <a:ext cx="4994803" cy="6858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425131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and Titl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noProof="0" smtClean="0"/>
              <a:t>11/14/2025</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6" name="Rectangle 1">
            <a:extLst>
              <a:ext uri="{FF2B5EF4-FFF2-40B4-BE49-F238E27FC236}">
                <a16:creationId xmlns:a16="http://schemas.microsoft.com/office/drawing/2014/main" id="{8640E59D-783A-C149-B212-716E0C4FE00D}"/>
              </a:ext>
            </a:extLst>
          </p:cNvPr>
          <p:cNvSpPr/>
          <p:nvPr userDrawn="1"/>
        </p:nvSpPr>
        <p:spPr>
          <a:xfrm rot="5400000">
            <a:off x="1660484" y="1257302"/>
            <a:ext cx="2540001" cy="25400"/>
          </a:xfrm>
          <a:prstGeom prst="rect">
            <a:avLst/>
          </a:prstGeom>
          <a:solidFill>
            <a:srgbClr val="24282B"/>
          </a:solidFill>
          <a:ln w="12700">
            <a:miter lim="400000"/>
          </a:ln>
        </p:spPr>
        <p:txBody>
          <a:bodyPr lIns="50800" tIns="50800" rIns="50800" bIns="50800" anchor="ctr"/>
          <a:lstStyle/>
          <a:p>
            <a:pPr algn="ctr">
              <a:defRPr sz="3200" spc="0">
                <a:solidFill>
                  <a:srgbClr val="0433FF"/>
                </a:solidFill>
                <a:latin typeface="Helvetica Light"/>
                <a:ea typeface="Helvetica Light"/>
                <a:cs typeface="Helvetica Light"/>
                <a:sym typeface="Helvetica Light"/>
              </a:defRPr>
            </a:pPr>
            <a:endParaRPr lang="en-US" noProof="0"/>
          </a:p>
        </p:txBody>
      </p:sp>
      <p:sp>
        <p:nvSpPr>
          <p:cNvPr id="12" name="Picture Placeholder 11">
            <a:extLst>
              <a:ext uri="{FF2B5EF4-FFF2-40B4-BE49-F238E27FC236}">
                <a16:creationId xmlns:a16="http://schemas.microsoft.com/office/drawing/2014/main" id="{4E9C988F-F5FE-BA4D-BDC5-02CCC5D68FF5}"/>
              </a:ext>
            </a:extLst>
          </p:cNvPr>
          <p:cNvSpPr>
            <a:spLocks noGrp="1"/>
          </p:cNvSpPr>
          <p:nvPr>
            <p:ph type="pic" sz="quarter" idx="13"/>
          </p:nvPr>
        </p:nvSpPr>
        <p:spPr>
          <a:xfrm>
            <a:off x="546100" y="520700"/>
            <a:ext cx="4743450" cy="5816600"/>
          </a:xfrm>
          <a:custGeom>
            <a:avLst/>
            <a:gdLst>
              <a:gd name="connsiteX0" fmla="*/ 0 w 4743450"/>
              <a:gd name="connsiteY0" fmla="*/ 0 h 5816600"/>
              <a:gd name="connsiteX1" fmla="*/ 4743450 w 4743450"/>
              <a:gd name="connsiteY1" fmla="*/ 0 h 5816600"/>
              <a:gd name="connsiteX2" fmla="*/ 4743450 w 4743450"/>
              <a:gd name="connsiteY2" fmla="*/ 285838 h 5816600"/>
              <a:gd name="connsiteX3" fmla="*/ 4406308 w 4743450"/>
              <a:gd name="connsiteY3" fmla="*/ 285838 h 5816600"/>
              <a:gd name="connsiteX4" fmla="*/ 4406308 w 4743450"/>
              <a:gd name="connsiteY4" fmla="*/ 666839 h 5816600"/>
              <a:gd name="connsiteX5" fmla="*/ 4743450 w 4743450"/>
              <a:gd name="connsiteY5" fmla="*/ 666839 h 5816600"/>
              <a:gd name="connsiteX6" fmla="*/ 4743450 w 4743450"/>
              <a:gd name="connsiteY6" fmla="*/ 5816600 h 5816600"/>
              <a:gd name="connsiteX7" fmla="*/ 0 w 4743450"/>
              <a:gd name="connsiteY7" fmla="*/ 5816600 h 581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50" h="5816600">
                <a:moveTo>
                  <a:pt x="0" y="0"/>
                </a:moveTo>
                <a:lnTo>
                  <a:pt x="4743450" y="0"/>
                </a:lnTo>
                <a:lnTo>
                  <a:pt x="4743450" y="285838"/>
                </a:lnTo>
                <a:lnTo>
                  <a:pt x="4406308" y="285838"/>
                </a:lnTo>
                <a:lnTo>
                  <a:pt x="4406308" y="666839"/>
                </a:lnTo>
                <a:lnTo>
                  <a:pt x="4743450" y="666839"/>
                </a:lnTo>
                <a:lnTo>
                  <a:pt x="4743450" y="5816600"/>
                </a:lnTo>
                <a:lnTo>
                  <a:pt x="0" y="5816600"/>
                </a:lnTo>
                <a:close/>
              </a:path>
            </a:pathLst>
          </a:custGeom>
          <a:solidFill>
            <a:schemeClr val="tx2"/>
          </a:solidFill>
        </p:spPr>
        <p:txBody>
          <a:bodyPr wrap="square">
            <a:noAutofit/>
          </a:bodyPr>
          <a:lstStyle>
            <a:lvl1pPr marL="0" indent="0" algn="ctr">
              <a:buNone/>
              <a:defRPr>
                <a:solidFill>
                  <a:schemeClr val="bg1"/>
                </a:solidFill>
              </a:defRPr>
            </a:lvl1pPr>
          </a:lstStyle>
          <a:p>
            <a:r>
              <a:rPr lang="en-US" noProof="0" smtClean="0"/>
              <a:t>Click icon to add picture</a:t>
            </a:r>
            <a:endParaRPr lang="en-US" noProof="0"/>
          </a:p>
        </p:txBody>
      </p:sp>
      <p:sp>
        <p:nvSpPr>
          <p:cNvPr id="14" name="Rectangle 1">
            <a:extLst>
              <a:ext uri="{FF2B5EF4-FFF2-40B4-BE49-F238E27FC236}">
                <a16:creationId xmlns:a16="http://schemas.microsoft.com/office/drawing/2014/main" id="{4E3F3D93-DB12-4C41-A747-8781702C1204}"/>
              </a:ext>
            </a:extLst>
          </p:cNvPr>
          <p:cNvSpPr/>
          <p:nvPr userDrawn="1"/>
        </p:nvSpPr>
        <p:spPr>
          <a:xfrm>
            <a:off x="4952408" y="806538"/>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16" name="Title 1">
            <a:extLst>
              <a:ext uri="{FF2B5EF4-FFF2-40B4-BE49-F238E27FC236}">
                <a16:creationId xmlns:a16="http://schemas.microsoft.com/office/drawing/2014/main" id="{D6C315ED-F22B-A649-80D5-44A63CE74044}"/>
              </a:ext>
            </a:extLst>
          </p:cNvPr>
          <p:cNvSpPr>
            <a:spLocks noGrp="1"/>
          </p:cNvSpPr>
          <p:nvPr>
            <p:ph type="title" hasCustomPrompt="1"/>
          </p:nvPr>
        </p:nvSpPr>
        <p:spPr>
          <a:xfrm>
            <a:off x="6096000" y="702156"/>
            <a:ext cx="6096000" cy="740156"/>
          </a:xfrm>
        </p:spPr>
        <p:txBody>
          <a:bodyPr anchor="t">
            <a:normAutofit/>
          </a:bodyPr>
          <a:lstStyle>
            <a:lvl1pPr>
              <a:defRPr sz="3400"/>
            </a:lvl1pPr>
          </a:lstStyle>
          <a:p>
            <a:r>
              <a:rPr lang="en-US" noProof="0"/>
              <a:t>TITLE GOES HERE</a:t>
            </a:r>
          </a:p>
        </p:txBody>
      </p:sp>
    </p:spTree>
    <p:extLst>
      <p:ext uri="{BB962C8B-B14F-4D97-AF65-F5344CB8AC3E}">
        <p14:creationId xmlns:p14="http://schemas.microsoft.com/office/powerpoint/2010/main" val="28732044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and Captio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noProof="0" smtClean="0"/>
              <a:t>11/14/2025</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6" name="Rectangle 1">
            <a:extLst>
              <a:ext uri="{FF2B5EF4-FFF2-40B4-BE49-F238E27FC236}">
                <a16:creationId xmlns:a16="http://schemas.microsoft.com/office/drawing/2014/main" id="{8640E59D-783A-C149-B212-716E0C4FE00D}"/>
              </a:ext>
            </a:extLst>
          </p:cNvPr>
          <p:cNvSpPr/>
          <p:nvPr userDrawn="1"/>
        </p:nvSpPr>
        <p:spPr>
          <a:xfrm rot="5400000">
            <a:off x="1660484" y="1257302"/>
            <a:ext cx="2540001" cy="25400"/>
          </a:xfrm>
          <a:prstGeom prst="rect">
            <a:avLst/>
          </a:prstGeom>
          <a:solidFill>
            <a:srgbClr val="24282B"/>
          </a:solidFill>
          <a:ln w="12700">
            <a:miter lim="400000"/>
          </a:ln>
        </p:spPr>
        <p:txBody>
          <a:bodyPr lIns="50800" tIns="50800" rIns="50800" bIns="50800" anchor="ctr"/>
          <a:lstStyle/>
          <a:p>
            <a:pPr algn="ctr">
              <a:defRPr sz="3200" spc="0">
                <a:solidFill>
                  <a:srgbClr val="0433FF"/>
                </a:solidFill>
                <a:latin typeface="Helvetica Light"/>
                <a:ea typeface="Helvetica Light"/>
                <a:cs typeface="Helvetica Light"/>
                <a:sym typeface="Helvetica Light"/>
              </a:defRPr>
            </a:pPr>
            <a:endParaRPr lang="en-US" noProof="0"/>
          </a:p>
        </p:txBody>
      </p:sp>
      <p:sp>
        <p:nvSpPr>
          <p:cNvPr id="12" name="Picture Placeholder 11">
            <a:extLst>
              <a:ext uri="{FF2B5EF4-FFF2-40B4-BE49-F238E27FC236}">
                <a16:creationId xmlns:a16="http://schemas.microsoft.com/office/drawing/2014/main" id="{4E9C988F-F5FE-BA4D-BDC5-02CCC5D68FF5}"/>
              </a:ext>
            </a:extLst>
          </p:cNvPr>
          <p:cNvSpPr>
            <a:spLocks noGrp="1"/>
          </p:cNvSpPr>
          <p:nvPr>
            <p:ph type="pic" sz="quarter" idx="13"/>
          </p:nvPr>
        </p:nvSpPr>
        <p:spPr>
          <a:xfrm>
            <a:off x="546100" y="520700"/>
            <a:ext cx="4743450" cy="5816600"/>
          </a:xfrm>
          <a:custGeom>
            <a:avLst/>
            <a:gdLst>
              <a:gd name="connsiteX0" fmla="*/ 0 w 4743450"/>
              <a:gd name="connsiteY0" fmla="*/ 0 h 5816600"/>
              <a:gd name="connsiteX1" fmla="*/ 4743450 w 4743450"/>
              <a:gd name="connsiteY1" fmla="*/ 0 h 5816600"/>
              <a:gd name="connsiteX2" fmla="*/ 4743450 w 4743450"/>
              <a:gd name="connsiteY2" fmla="*/ 285838 h 5816600"/>
              <a:gd name="connsiteX3" fmla="*/ 4406308 w 4743450"/>
              <a:gd name="connsiteY3" fmla="*/ 285838 h 5816600"/>
              <a:gd name="connsiteX4" fmla="*/ 4406308 w 4743450"/>
              <a:gd name="connsiteY4" fmla="*/ 666839 h 5816600"/>
              <a:gd name="connsiteX5" fmla="*/ 4743450 w 4743450"/>
              <a:gd name="connsiteY5" fmla="*/ 666839 h 5816600"/>
              <a:gd name="connsiteX6" fmla="*/ 4743450 w 4743450"/>
              <a:gd name="connsiteY6" fmla="*/ 5816600 h 5816600"/>
              <a:gd name="connsiteX7" fmla="*/ 0 w 4743450"/>
              <a:gd name="connsiteY7" fmla="*/ 5816600 h 581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50" h="5816600">
                <a:moveTo>
                  <a:pt x="0" y="0"/>
                </a:moveTo>
                <a:lnTo>
                  <a:pt x="4743450" y="0"/>
                </a:lnTo>
                <a:lnTo>
                  <a:pt x="4743450" y="285838"/>
                </a:lnTo>
                <a:lnTo>
                  <a:pt x="4406308" y="285838"/>
                </a:lnTo>
                <a:lnTo>
                  <a:pt x="4406308" y="666839"/>
                </a:lnTo>
                <a:lnTo>
                  <a:pt x="4743450" y="666839"/>
                </a:lnTo>
                <a:lnTo>
                  <a:pt x="4743450" y="5816600"/>
                </a:lnTo>
                <a:lnTo>
                  <a:pt x="0" y="5816600"/>
                </a:lnTo>
                <a:close/>
              </a:path>
            </a:pathLst>
          </a:custGeom>
          <a:solidFill>
            <a:schemeClr val="tx2"/>
          </a:solidFill>
        </p:spPr>
        <p:txBody>
          <a:bodyPr wrap="square">
            <a:noAutofit/>
          </a:bodyPr>
          <a:lstStyle>
            <a:lvl1pPr marL="0" indent="0" algn="ctr">
              <a:buNone/>
              <a:defRPr>
                <a:solidFill>
                  <a:schemeClr val="bg1"/>
                </a:solidFill>
              </a:defRPr>
            </a:lvl1pPr>
          </a:lstStyle>
          <a:p>
            <a:r>
              <a:rPr lang="en-US" noProof="0" smtClean="0"/>
              <a:t>Click icon to add picture</a:t>
            </a:r>
            <a:endParaRPr lang="en-US" noProof="0"/>
          </a:p>
        </p:txBody>
      </p:sp>
      <p:sp>
        <p:nvSpPr>
          <p:cNvPr id="14" name="Rectangle 1">
            <a:extLst>
              <a:ext uri="{FF2B5EF4-FFF2-40B4-BE49-F238E27FC236}">
                <a16:creationId xmlns:a16="http://schemas.microsoft.com/office/drawing/2014/main" id="{4E3F3D93-DB12-4C41-A747-8781702C1204}"/>
              </a:ext>
            </a:extLst>
          </p:cNvPr>
          <p:cNvSpPr/>
          <p:nvPr userDrawn="1"/>
        </p:nvSpPr>
        <p:spPr>
          <a:xfrm>
            <a:off x="4952408" y="806538"/>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16" name="Title 1">
            <a:extLst>
              <a:ext uri="{FF2B5EF4-FFF2-40B4-BE49-F238E27FC236}">
                <a16:creationId xmlns:a16="http://schemas.microsoft.com/office/drawing/2014/main" id="{D6C315ED-F22B-A649-80D5-44A63CE74044}"/>
              </a:ext>
            </a:extLst>
          </p:cNvPr>
          <p:cNvSpPr>
            <a:spLocks noGrp="1"/>
          </p:cNvSpPr>
          <p:nvPr>
            <p:ph type="title" hasCustomPrompt="1"/>
          </p:nvPr>
        </p:nvSpPr>
        <p:spPr>
          <a:xfrm>
            <a:off x="6096000" y="702156"/>
            <a:ext cx="6096000" cy="740156"/>
          </a:xfrm>
        </p:spPr>
        <p:txBody>
          <a:bodyPr anchor="t">
            <a:normAutofit/>
          </a:bodyPr>
          <a:lstStyle>
            <a:lvl1pPr>
              <a:defRPr sz="3400"/>
            </a:lvl1pPr>
          </a:lstStyle>
          <a:p>
            <a:r>
              <a:rPr lang="en-US" noProof="0"/>
              <a:t>TITLE GOES HERE</a:t>
            </a:r>
          </a:p>
        </p:txBody>
      </p:sp>
      <p:sp>
        <p:nvSpPr>
          <p:cNvPr id="9" name="Content Placeholder 8">
            <a:extLst>
              <a:ext uri="{FF2B5EF4-FFF2-40B4-BE49-F238E27FC236}">
                <a16:creationId xmlns:a16="http://schemas.microsoft.com/office/drawing/2014/main" id="{DEE6C881-74AA-8944-AD6A-BA0821ECDCAE}"/>
              </a:ext>
            </a:extLst>
          </p:cNvPr>
          <p:cNvSpPr>
            <a:spLocks noGrp="1"/>
          </p:cNvSpPr>
          <p:nvPr>
            <p:ph sz="quarter" idx="14"/>
          </p:nvPr>
        </p:nvSpPr>
        <p:spPr>
          <a:xfrm>
            <a:off x="6096000" y="1443038"/>
            <a:ext cx="5514975" cy="4894262"/>
          </a:xfrm>
        </p:spPr>
        <p:txBody>
          <a:bodyPr/>
          <a:lstStyle>
            <a:lvl1pPr>
              <a:spcBef>
                <a:spcPts val="1000"/>
              </a:spcBef>
              <a:spcAft>
                <a:spcPts val="1500"/>
              </a:spcAft>
              <a:defRPr/>
            </a:lvl1pPr>
            <a:lvl2pPr>
              <a:spcBef>
                <a:spcPts val="1000"/>
              </a:spcBef>
              <a:spcAft>
                <a:spcPts val="1500"/>
              </a:spcAft>
              <a:defRPr/>
            </a:lvl2pPr>
            <a:lvl3pPr>
              <a:spcBef>
                <a:spcPts val="1000"/>
              </a:spcBef>
              <a:spcAft>
                <a:spcPts val="1500"/>
              </a:spcAft>
              <a:defRPr/>
            </a:lvl3pPr>
            <a:lvl4pPr>
              <a:spcBef>
                <a:spcPts val="1000"/>
              </a:spcBef>
              <a:spcAft>
                <a:spcPts val="1500"/>
              </a:spcAft>
              <a:defRPr/>
            </a:lvl4pPr>
            <a:lvl5pPr>
              <a:spcBef>
                <a:spcPts val="1000"/>
              </a:spcBef>
              <a:spcAft>
                <a:spcPts val="1500"/>
              </a:spcAft>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6772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11/14/2025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2444890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95" r:id="rId3"/>
    <p:sldLayoutId id="2147483676" r:id="rId4"/>
    <p:sldLayoutId id="2147483677" r:id="rId5"/>
    <p:sldLayoutId id="2147483684" r:id="rId6"/>
    <p:sldLayoutId id="2147483678" r:id="rId7"/>
    <p:sldLayoutId id="2147483679" r:id="rId8"/>
    <p:sldLayoutId id="2147483698" r:id="rId9"/>
    <p:sldLayoutId id="2147483697" r:id="rId10"/>
    <p:sldLayoutId id="2147483696" r:id="rId11"/>
    <p:sldLayoutId id="2147483693" r:id="rId12"/>
    <p:sldLayoutId id="2147483694" r:id="rId13"/>
    <p:sldLayoutId id="2147483692" r:id="rId14"/>
    <p:sldLayoutId id="2147483691" r:id="rId15"/>
    <p:sldLayoutId id="2147483689" r:id="rId16"/>
    <p:sldLayoutId id="2147483690" r:id="rId17"/>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CA69D-9764-6F43-A39D-17C946E0EF06}"/>
              </a:ext>
            </a:extLst>
          </p:cNvPr>
          <p:cNvSpPr>
            <a:spLocks noGrp="1"/>
          </p:cNvSpPr>
          <p:nvPr>
            <p:ph type="title"/>
          </p:nvPr>
        </p:nvSpPr>
        <p:spPr>
          <a:xfrm>
            <a:off x="484940" y="1644316"/>
            <a:ext cx="11029615" cy="996112"/>
          </a:xfrm>
        </p:spPr>
        <p:txBody>
          <a:bodyPr>
            <a:noAutofit/>
          </a:bodyPr>
          <a:lstStyle/>
          <a:p>
            <a:r>
              <a:rPr lang="en-US" sz="7200" dirty="0" smtClean="0"/>
              <a:t>BRIGHT TV Sales </a:t>
            </a:r>
            <a:r>
              <a:rPr lang="en-US" sz="7200" dirty="0"/>
              <a:t>pitch </a:t>
            </a:r>
          </a:p>
        </p:txBody>
      </p:sp>
      <p:sp>
        <p:nvSpPr>
          <p:cNvPr id="3" name="Subtitle 2">
            <a:extLst>
              <a:ext uri="{FF2B5EF4-FFF2-40B4-BE49-F238E27FC236}">
                <a16:creationId xmlns:a16="http://schemas.microsoft.com/office/drawing/2014/main" id="{171C4BF9-0712-B24C-9B29-1A941E18718E}"/>
              </a:ext>
            </a:extLst>
          </p:cNvPr>
          <p:cNvSpPr>
            <a:spLocks noGrp="1"/>
          </p:cNvSpPr>
          <p:nvPr>
            <p:ph type="body" idx="1"/>
          </p:nvPr>
        </p:nvSpPr>
        <p:spPr>
          <a:xfrm>
            <a:off x="420770" y="3041480"/>
            <a:ext cx="11029615" cy="600556"/>
          </a:xfrm>
        </p:spPr>
        <p:txBody>
          <a:bodyPr/>
          <a:lstStyle/>
          <a:p>
            <a:r>
              <a:rPr lang="en-US" dirty="0" smtClean="0"/>
              <a:t>By Gomolemo Moabalobelo</a:t>
            </a:r>
            <a:endParaRPr lang="en-US" dirty="0"/>
          </a:p>
        </p:txBody>
      </p:sp>
    </p:spTree>
    <p:extLst>
      <p:ext uri="{BB962C8B-B14F-4D97-AF65-F5344CB8AC3E}">
        <p14:creationId xmlns:p14="http://schemas.microsoft.com/office/powerpoint/2010/main" val="217044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en-US" dirty="0" smtClean="0"/>
              <a:t>TABLE OF CONTENTS</a:t>
            </a:r>
            <a:endParaRPr lang="en-US" dirty="0"/>
          </a:p>
        </p:txBody>
      </p:sp>
      <p:sp>
        <p:nvSpPr>
          <p:cNvPr id="4" name="TextBox 3"/>
          <p:cNvSpPr txBox="1"/>
          <p:nvPr/>
        </p:nvSpPr>
        <p:spPr>
          <a:xfrm flipH="1">
            <a:off x="705853" y="2237874"/>
            <a:ext cx="8510336" cy="3416320"/>
          </a:xfrm>
          <a:prstGeom prst="rect">
            <a:avLst/>
          </a:prstGeom>
          <a:noFill/>
        </p:spPr>
        <p:txBody>
          <a:bodyPr wrap="square" rtlCol="0">
            <a:spAutoFit/>
          </a:bodyPr>
          <a:lstStyle/>
          <a:p>
            <a:r>
              <a:rPr lang="en-ZA" dirty="0" smtClean="0">
                <a:latin typeface="Consolas" panose="020B0609020204030204" pitchFamily="49" charset="0"/>
              </a:rPr>
              <a:t>Introduct</a:t>
            </a:r>
            <a:r>
              <a:rPr lang="en-ZA" dirty="0" smtClean="0">
                <a:latin typeface="Consolas" panose="020B0609020204030204" pitchFamily="49" charset="0"/>
              </a:rPr>
              <a:t>ion 							3</a:t>
            </a:r>
          </a:p>
          <a:p>
            <a:r>
              <a:rPr lang="en-US" dirty="0">
                <a:latin typeface="Consolas" panose="020B0609020204030204" pitchFamily="49" charset="0"/>
              </a:rPr>
              <a:t>User Engagement by Channel and Duration </a:t>
            </a:r>
            <a:r>
              <a:rPr lang="en-US" dirty="0" smtClean="0">
                <a:latin typeface="Consolas" panose="020B0609020204030204" pitchFamily="49" charset="0"/>
              </a:rPr>
              <a:t>			4</a:t>
            </a:r>
            <a:r>
              <a:rPr lang="en-US" dirty="0">
                <a:latin typeface="Consolas" panose="020B0609020204030204" pitchFamily="49" charset="0"/>
              </a:rPr>
              <a:t/>
            </a:r>
            <a:br>
              <a:rPr lang="en-US" dirty="0">
                <a:latin typeface="Consolas" panose="020B0609020204030204" pitchFamily="49" charset="0"/>
              </a:rPr>
            </a:br>
            <a:r>
              <a:rPr lang="en-US" dirty="0">
                <a:latin typeface="Consolas" panose="020B0609020204030204" pitchFamily="49" charset="0"/>
              </a:rPr>
              <a:t>User Age Groups vs. Channel and Duration Preferences </a:t>
            </a:r>
            <a:r>
              <a:rPr lang="en-US" dirty="0" smtClean="0">
                <a:latin typeface="Consolas" panose="020B0609020204030204" pitchFamily="49" charset="0"/>
              </a:rPr>
              <a:t>	5</a:t>
            </a:r>
            <a:r>
              <a:rPr lang="en-US" dirty="0">
                <a:latin typeface="Consolas" panose="020B0609020204030204" pitchFamily="49" charset="0"/>
              </a:rPr>
              <a:t/>
            </a:r>
            <a:br>
              <a:rPr lang="en-US" dirty="0">
                <a:latin typeface="Consolas" panose="020B0609020204030204" pitchFamily="49" charset="0"/>
              </a:rPr>
            </a:br>
            <a:r>
              <a:rPr lang="en-US" dirty="0">
                <a:latin typeface="Consolas" panose="020B0609020204030204" pitchFamily="49" charset="0"/>
              </a:rPr>
              <a:t>User Race: Channel and Duration </a:t>
            </a:r>
            <a:r>
              <a:rPr lang="en-US" dirty="0" smtClean="0">
                <a:latin typeface="Consolas" panose="020B0609020204030204" pitchFamily="49" charset="0"/>
              </a:rPr>
              <a:t>Preferences 		6</a:t>
            </a:r>
            <a:br>
              <a:rPr lang="en-US" dirty="0" smtClean="0">
                <a:latin typeface="Consolas" panose="020B0609020204030204" pitchFamily="49" charset="0"/>
              </a:rPr>
            </a:br>
            <a:r>
              <a:rPr lang="en-ZA" i="1" dirty="0">
                <a:latin typeface="Consolas" panose="020B0609020204030204" pitchFamily="49" charset="0"/>
              </a:rPr>
              <a:t>User Province: Channel and Duration </a:t>
            </a:r>
            <a:r>
              <a:rPr lang="en-ZA" i="1" dirty="0" smtClean="0">
                <a:latin typeface="Consolas" panose="020B0609020204030204" pitchFamily="49" charset="0"/>
              </a:rPr>
              <a:t>Preferences 		7</a:t>
            </a:r>
            <a:br>
              <a:rPr lang="en-ZA" i="1" dirty="0" smtClean="0">
                <a:latin typeface="Consolas" panose="020B0609020204030204" pitchFamily="49" charset="0"/>
              </a:rPr>
            </a:br>
            <a:r>
              <a:rPr lang="en-US" dirty="0">
                <a:latin typeface="Consolas" panose="020B0609020204030204" pitchFamily="49" charset="0"/>
              </a:rPr>
              <a:t>User Gender: Channel and Duration </a:t>
            </a:r>
            <a:r>
              <a:rPr lang="en-US" dirty="0" smtClean="0">
                <a:latin typeface="Consolas" panose="020B0609020204030204" pitchFamily="49" charset="0"/>
              </a:rPr>
              <a:t>Preferences 		8</a:t>
            </a:r>
          </a:p>
          <a:p>
            <a:r>
              <a:rPr lang="en-US" i="1" dirty="0">
                <a:latin typeface="Consolas" panose="020B0609020204030204" pitchFamily="49" charset="0"/>
              </a:rPr>
              <a:t>Weekly Consumption Patterns by Channel and Duration </a:t>
            </a:r>
            <a:r>
              <a:rPr lang="en-US" i="1" dirty="0" smtClean="0">
                <a:latin typeface="Consolas" panose="020B0609020204030204" pitchFamily="49" charset="0"/>
              </a:rPr>
              <a:t>	9</a:t>
            </a:r>
            <a:r>
              <a:rPr lang="en-US" i="1" dirty="0">
                <a:latin typeface="Consolas" panose="020B0609020204030204" pitchFamily="49" charset="0"/>
              </a:rPr>
              <a:t/>
            </a:r>
            <a:br>
              <a:rPr lang="en-US" i="1" dirty="0">
                <a:latin typeface="Consolas" panose="020B0609020204030204" pitchFamily="49" charset="0"/>
              </a:rPr>
            </a:br>
            <a:r>
              <a:rPr lang="en-US" i="1" dirty="0" smtClean="0">
                <a:latin typeface="Consolas" panose="020B0609020204030204" pitchFamily="49" charset="0"/>
              </a:rPr>
              <a:t>Monthly </a:t>
            </a:r>
            <a:r>
              <a:rPr lang="en-US" i="1" dirty="0">
                <a:latin typeface="Consolas" panose="020B0609020204030204" pitchFamily="49" charset="0"/>
              </a:rPr>
              <a:t>Consumption Patterns by Channel and Duration </a:t>
            </a:r>
            <a:r>
              <a:rPr lang="en-US" i="1" dirty="0" smtClean="0">
                <a:latin typeface="Consolas" panose="020B0609020204030204" pitchFamily="49" charset="0"/>
              </a:rPr>
              <a:t>	10</a:t>
            </a:r>
            <a:r>
              <a:rPr lang="en-US" i="1" dirty="0">
                <a:latin typeface="Consolas" panose="020B0609020204030204" pitchFamily="49" charset="0"/>
              </a:rPr>
              <a:t/>
            </a:r>
            <a:br>
              <a:rPr lang="en-US" i="1" dirty="0">
                <a:latin typeface="Consolas" panose="020B0609020204030204" pitchFamily="49" charset="0"/>
              </a:rPr>
            </a:br>
            <a:r>
              <a:rPr lang="en-US" i="1" dirty="0" smtClean="0">
                <a:latin typeface="Consolas" panose="020B0609020204030204" pitchFamily="49" charset="0"/>
              </a:rPr>
              <a:t>Hourly </a:t>
            </a:r>
            <a:r>
              <a:rPr lang="en-US" i="1" dirty="0">
                <a:latin typeface="Consolas" panose="020B0609020204030204" pitchFamily="49" charset="0"/>
              </a:rPr>
              <a:t>Consumption Patterns by Channel and </a:t>
            </a:r>
            <a:r>
              <a:rPr lang="en-US" i="1" dirty="0" smtClean="0">
                <a:latin typeface="Consolas" panose="020B0609020204030204" pitchFamily="49" charset="0"/>
              </a:rPr>
              <a:t>Duration 	11</a:t>
            </a:r>
            <a:br>
              <a:rPr lang="en-US" i="1" dirty="0" smtClean="0">
                <a:latin typeface="Consolas" panose="020B0609020204030204" pitchFamily="49" charset="0"/>
              </a:rPr>
            </a:br>
            <a:r>
              <a:rPr lang="en-US" i="1" dirty="0" smtClean="0">
                <a:latin typeface="Consolas" panose="020B0609020204030204" pitchFamily="49" charset="0"/>
              </a:rPr>
              <a:t>Recommendations 						12</a:t>
            </a:r>
            <a:br>
              <a:rPr lang="en-US" i="1" dirty="0" smtClean="0">
                <a:latin typeface="Consolas" panose="020B0609020204030204" pitchFamily="49" charset="0"/>
              </a:rPr>
            </a:br>
            <a:r>
              <a:rPr lang="en-US" i="1" dirty="0" smtClean="0">
                <a:latin typeface="Consolas" panose="020B0609020204030204" pitchFamily="49" charset="0"/>
              </a:rPr>
              <a:t>Conclusion 							13</a:t>
            </a:r>
            <a:r>
              <a:rPr lang="en-ZA" dirty="0" smtClean="0"/>
              <a:t/>
            </a:r>
            <a:br>
              <a:rPr lang="en-ZA" dirty="0" smtClean="0"/>
            </a:br>
            <a:endParaRPr lang="en-ZA" dirty="0"/>
          </a:p>
        </p:txBody>
      </p:sp>
    </p:spTree>
    <p:extLst>
      <p:ext uri="{BB962C8B-B14F-4D97-AF65-F5344CB8AC3E}">
        <p14:creationId xmlns:p14="http://schemas.microsoft.com/office/powerpoint/2010/main" val="3225707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ECB34-6337-DE4D-8FD3-A3A0F5766F21}"/>
              </a:ext>
            </a:extLst>
          </p:cNvPr>
          <p:cNvSpPr>
            <a:spLocks noGrp="1"/>
          </p:cNvSpPr>
          <p:nvPr>
            <p:ph type="title"/>
          </p:nvPr>
        </p:nvSpPr>
        <p:spPr>
          <a:xfrm>
            <a:off x="536740" y="693488"/>
            <a:ext cx="11029615" cy="742282"/>
          </a:xfrm>
        </p:spPr>
        <p:txBody>
          <a:bodyPr>
            <a:noAutofit/>
          </a:bodyPr>
          <a:lstStyle/>
          <a:p>
            <a:r>
              <a:rPr lang="en-US" sz="6000" dirty="0" smtClean="0">
                <a:latin typeface="Consolas" panose="020B0609020204030204" pitchFamily="49" charset="0"/>
              </a:rPr>
              <a:t>INTRODUCTION</a:t>
            </a:r>
            <a:endParaRPr lang="en-US" sz="6000" dirty="0">
              <a:latin typeface="Consolas" panose="020B0609020204030204" pitchFamily="49" charset="0"/>
            </a:endParaRPr>
          </a:p>
        </p:txBody>
      </p:sp>
      <p:sp>
        <p:nvSpPr>
          <p:cNvPr id="8" name="Text Placeholder 2">
            <a:extLst>
              <a:ext uri="{FF2B5EF4-FFF2-40B4-BE49-F238E27FC236}">
                <a16:creationId xmlns:a16="http://schemas.microsoft.com/office/drawing/2014/main" id="{4AB27EA9-DD4F-6245-9D17-591DCE0A8ADA}"/>
              </a:ext>
            </a:extLst>
          </p:cNvPr>
          <p:cNvSpPr txBox="1">
            <a:spLocks/>
          </p:cNvSpPr>
          <p:nvPr/>
        </p:nvSpPr>
        <p:spPr>
          <a:xfrm>
            <a:off x="533065" y="2037347"/>
            <a:ext cx="11033290" cy="279934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800" kern="1200" cap="all">
                <a:solidFill>
                  <a:schemeClr val="accent1"/>
                </a:solidFill>
                <a:latin typeface="+mn-lt"/>
                <a:ea typeface="+mn-ea"/>
                <a:cs typeface="+mn-cs"/>
              </a:defRPr>
            </a:lvl1pPr>
            <a:lvl2pPr marL="4572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ct val="20000"/>
              </a:spcBef>
              <a:spcAft>
                <a:spcPts val="600"/>
              </a:spcAft>
              <a:buClr>
                <a:schemeClr val="accent1"/>
              </a:buClr>
              <a:buSzPct val="92000"/>
              <a:buFont typeface="Wingdings 2" panose="05020102010507070707" pitchFamily="18"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9pPr>
          </a:lstStyle>
          <a:p>
            <a:r>
              <a:rPr lang="en-US" sz="2000" dirty="0" smtClean="0">
                <a:solidFill>
                  <a:schemeClr val="tx1"/>
                </a:solidFill>
                <a:latin typeface="Consolas" panose="020B0609020204030204" pitchFamily="49" charset="0"/>
              </a:rPr>
              <a:t>Bright TV’s CEO has set a goal to grow the company’s subscription base in the current financial year. To achieve this, actionable insights are needed to assist the Customer Value Management (CVM) team in designing targeted strategies. The insights shared on this slide will enable the CVM team to better understand customer behavior, uncover growth opportunities, and take informed actions to increase subscriptions.</a:t>
            </a:r>
            <a:endParaRPr lang="en-US" sz="20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207947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a:bodyPr>
          <a:lstStyle/>
          <a:p>
            <a:r>
              <a:rPr lang="en-US" sz="3200" dirty="0"/>
              <a:t>User Engagement by Channel and Duration</a:t>
            </a:r>
            <a:endParaRPr lang="en-US" sz="3200" dirty="0"/>
          </a:p>
        </p:txBody>
      </p:sp>
      <p:pic>
        <p:nvPicPr>
          <p:cNvPr id="5" name="Picture 4"/>
          <p:cNvPicPr>
            <a:picLocks noChangeAspect="1"/>
          </p:cNvPicPr>
          <p:nvPr/>
        </p:nvPicPr>
        <p:blipFill>
          <a:blip r:embed="rId2"/>
          <a:stretch>
            <a:fillRect/>
          </a:stretch>
        </p:blipFill>
        <p:spPr>
          <a:xfrm>
            <a:off x="361043" y="1682215"/>
            <a:ext cx="5133277" cy="2755631"/>
          </a:xfrm>
          <a:prstGeom prst="rect">
            <a:avLst/>
          </a:prstGeom>
        </p:spPr>
      </p:pic>
      <p:pic>
        <p:nvPicPr>
          <p:cNvPr id="6" name="Picture 5"/>
          <p:cNvPicPr>
            <a:picLocks noChangeAspect="1"/>
          </p:cNvPicPr>
          <p:nvPr/>
        </p:nvPicPr>
        <p:blipFill>
          <a:blip r:embed="rId3"/>
          <a:stretch>
            <a:fillRect/>
          </a:stretch>
        </p:blipFill>
        <p:spPr>
          <a:xfrm>
            <a:off x="6360889" y="1682215"/>
            <a:ext cx="5133277" cy="2755631"/>
          </a:xfrm>
          <a:prstGeom prst="rect">
            <a:avLst/>
          </a:prstGeom>
        </p:spPr>
      </p:pic>
      <p:sp>
        <p:nvSpPr>
          <p:cNvPr id="9" name="TextBox 8"/>
          <p:cNvSpPr txBox="1"/>
          <p:nvPr/>
        </p:nvSpPr>
        <p:spPr>
          <a:xfrm flipH="1">
            <a:off x="361043" y="4870982"/>
            <a:ext cx="5133277" cy="1446550"/>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The majority of </a:t>
            </a:r>
            <a:r>
              <a:rPr lang="en-US" sz="1100" dirty="0" smtClean="0">
                <a:latin typeface="Consolas" panose="020B0609020204030204" pitchFamily="49" charset="0"/>
              </a:rPr>
              <a:t>Bright TV </a:t>
            </a:r>
            <a:r>
              <a:rPr lang="en-US" sz="1100" dirty="0">
                <a:latin typeface="Consolas" panose="020B0609020204030204" pitchFamily="49" charset="0"/>
              </a:rPr>
              <a:t>users are concentrated in the Sport (3,580 users, 39%) and Music (2,242 users, 24%) channels, making these the primary drivers of subscriptions and engagement.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The </a:t>
            </a:r>
            <a:r>
              <a:rPr lang="en-US" sz="1100" dirty="0">
                <a:latin typeface="Consolas" panose="020B0609020204030204" pitchFamily="49" charset="0"/>
              </a:rPr>
              <a:t>Special Events channel has a very small audience (91 users, 1%) and requires targeted campaigns to increase viewership.</a:t>
            </a:r>
            <a:endParaRPr lang="en-ZA" sz="1100" dirty="0">
              <a:latin typeface="Consolas" panose="020B0609020204030204" pitchFamily="49" charset="0"/>
            </a:endParaRPr>
          </a:p>
        </p:txBody>
      </p:sp>
      <p:sp>
        <p:nvSpPr>
          <p:cNvPr id="10" name="TextBox 9"/>
          <p:cNvSpPr txBox="1"/>
          <p:nvPr/>
        </p:nvSpPr>
        <p:spPr>
          <a:xfrm>
            <a:off x="6360889" y="4855593"/>
            <a:ext cx="5133277" cy="1384995"/>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Consolas" panose="020B0609020204030204" pitchFamily="49" charset="0"/>
              </a:rPr>
              <a:t>The vast majority of </a:t>
            </a:r>
            <a:r>
              <a:rPr lang="en-US" sz="1200" dirty="0" smtClean="0">
                <a:latin typeface="Consolas" panose="020B0609020204030204" pitchFamily="49" charset="0"/>
              </a:rPr>
              <a:t>Bright TV </a:t>
            </a:r>
            <a:r>
              <a:rPr lang="en-US" sz="1200" dirty="0">
                <a:latin typeface="Consolas" panose="020B0609020204030204" pitchFamily="49" charset="0"/>
              </a:rPr>
              <a:t>users (8,637 out of 9,155, 94%) prefer short-duration content, while only a handful of users (5, &lt;1%) engage with long-duration programs. </a:t>
            </a:r>
            <a:endParaRPr lang="en-US" sz="1200" dirty="0" smtClean="0">
              <a:latin typeface="Consolas" panose="020B0609020204030204" pitchFamily="49" charset="0"/>
            </a:endParaRPr>
          </a:p>
          <a:p>
            <a:pPr marL="285750" indent="-285750">
              <a:buFont typeface="Arial" panose="020B0604020202020204" pitchFamily="34" charset="0"/>
              <a:buChar char="•"/>
            </a:pPr>
            <a:endParaRPr lang="en-US" sz="1200" dirty="0" smtClean="0">
              <a:latin typeface="Consolas" panose="020B0609020204030204" pitchFamily="49" charset="0"/>
            </a:endParaRPr>
          </a:p>
          <a:p>
            <a:pPr marL="285750" indent="-285750">
              <a:buFont typeface="Arial" panose="020B0604020202020204" pitchFamily="34" charset="0"/>
              <a:buChar char="•"/>
            </a:pPr>
            <a:r>
              <a:rPr lang="en-US" sz="1200" dirty="0" smtClean="0">
                <a:latin typeface="Consolas" panose="020B0609020204030204" pitchFamily="49" charset="0"/>
              </a:rPr>
              <a:t>This </a:t>
            </a:r>
            <a:r>
              <a:rPr lang="en-US" sz="1200" dirty="0">
                <a:latin typeface="Consolas" panose="020B0609020204030204" pitchFamily="49" charset="0"/>
              </a:rPr>
              <a:t>indicates that short-form content drives most user </a:t>
            </a:r>
            <a:r>
              <a:rPr lang="en-US" sz="1200" dirty="0" smtClean="0">
                <a:latin typeface="Consolas" panose="020B0609020204030204" pitchFamily="49" charset="0"/>
              </a:rPr>
              <a:t>engagement.</a:t>
            </a:r>
            <a:endParaRPr lang="en-ZA" sz="1200" dirty="0">
              <a:latin typeface="Consolas" panose="020B0609020204030204" pitchFamily="49" charset="0"/>
            </a:endParaRPr>
          </a:p>
        </p:txBody>
      </p:sp>
    </p:spTree>
    <p:extLst>
      <p:ext uri="{BB962C8B-B14F-4D97-AF65-F5344CB8AC3E}">
        <p14:creationId xmlns:p14="http://schemas.microsoft.com/office/powerpoint/2010/main" val="3211941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581192" y="480282"/>
            <a:ext cx="11029616" cy="740156"/>
          </a:xfrm>
        </p:spPr>
        <p:txBody>
          <a:bodyPr>
            <a:noAutofit/>
          </a:bodyPr>
          <a:lstStyle/>
          <a:p>
            <a:r>
              <a:rPr lang="en-US" sz="2800" dirty="0"/>
              <a:t>User Age Groups vs. Channel and Duration Preferences</a:t>
            </a:r>
            <a:endParaRPr lang="en-US" sz="2800" dirty="0"/>
          </a:p>
        </p:txBody>
      </p:sp>
      <p:sp>
        <p:nvSpPr>
          <p:cNvPr id="9" name="TextBox 8"/>
          <p:cNvSpPr txBox="1"/>
          <p:nvPr/>
        </p:nvSpPr>
        <p:spPr>
          <a:xfrm flipH="1">
            <a:off x="252905" y="4597176"/>
            <a:ext cx="5742978" cy="1446550"/>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Consolas" panose="020B0609020204030204" pitchFamily="49" charset="0"/>
              </a:rPr>
              <a:t>The Sport channel is the most watched across all age groups, with Adults accounting for 1,527 users (~41% of total Sport viewers) and the Elderly contributing only 23 users (&lt;1%). </a:t>
            </a:r>
            <a:endParaRPr lang="en-US" sz="1100" dirty="0" smtClean="0">
              <a:latin typeface="Consolas" panose="020B0609020204030204" pitchFamily="49" charset="0"/>
            </a:endParaRPr>
          </a:p>
          <a:p>
            <a:pPr marL="285750" indent="-285750">
              <a:buFont typeface="Arial" panose="020B0604020202020204" pitchFamily="34" charset="0"/>
              <a:buChar char="•"/>
            </a:pPr>
            <a:endParaRPr lang="en-US" sz="1100" dirty="0" smtClean="0">
              <a:latin typeface="Consolas" panose="020B0609020204030204" pitchFamily="49" charset="0"/>
            </a:endParaRPr>
          </a:p>
          <a:p>
            <a:pPr marL="285750" indent="-285750">
              <a:buFont typeface="Arial" panose="020B0604020202020204" pitchFamily="34" charset="0"/>
              <a:buChar char="•"/>
            </a:pPr>
            <a:r>
              <a:rPr lang="en-US" sz="1100" dirty="0" smtClean="0">
                <a:latin typeface="Consolas" panose="020B0609020204030204" pitchFamily="49" charset="0"/>
              </a:rPr>
              <a:t>Movies </a:t>
            </a:r>
            <a:r>
              <a:rPr lang="en-US" sz="1100" dirty="0">
                <a:latin typeface="Consolas" panose="020B0609020204030204" pitchFamily="49" charset="0"/>
              </a:rPr>
              <a:t>are the least popular, with Adults at 37 users (~1% of total Movie viewers) and no viewership from the Elderly. Overall, the Adult group generates the majority of views across channels, while the Elderly group shows minimal engagement.</a:t>
            </a:r>
            <a:endParaRPr lang="en-ZA" sz="1100" dirty="0">
              <a:latin typeface="Consolas" panose="020B0609020204030204" pitchFamily="49" charset="0"/>
            </a:endParaRPr>
          </a:p>
        </p:txBody>
      </p:sp>
      <p:sp>
        <p:nvSpPr>
          <p:cNvPr id="10" name="TextBox 9"/>
          <p:cNvSpPr txBox="1"/>
          <p:nvPr/>
        </p:nvSpPr>
        <p:spPr>
          <a:xfrm>
            <a:off x="6537159" y="4597176"/>
            <a:ext cx="5253789" cy="1277273"/>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Consolas" panose="020B0609020204030204" pitchFamily="49" charset="0"/>
              </a:rPr>
              <a:t>Across all age groups, short-duration content is clearly the most popular, with 3,697 Adults (~40% of total users) and 41 Elderly users (&lt;1%) engaging with it. </a:t>
            </a:r>
          </a:p>
          <a:p>
            <a:pPr marL="285750" indent="-285750">
              <a:buFont typeface="Arial" panose="020B0604020202020204" pitchFamily="34" charset="0"/>
              <a:buChar char="•"/>
            </a:pPr>
            <a:endParaRPr lang="en-US" sz="1100" dirty="0" smtClean="0">
              <a:latin typeface="Consolas" panose="020B0609020204030204" pitchFamily="49" charset="0"/>
            </a:endParaRPr>
          </a:p>
          <a:p>
            <a:pPr marL="285750" indent="-285750">
              <a:buFont typeface="Arial" panose="020B0604020202020204" pitchFamily="34" charset="0"/>
              <a:buChar char="•"/>
            </a:pPr>
            <a:r>
              <a:rPr lang="en-US" sz="1100" dirty="0" smtClean="0">
                <a:latin typeface="Consolas" panose="020B0609020204030204" pitchFamily="49" charset="0"/>
              </a:rPr>
              <a:t>In </a:t>
            </a:r>
            <a:r>
              <a:rPr lang="en-US" sz="1100" dirty="0">
                <a:latin typeface="Consolas" panose="020B0609020204030204" pitchFamily="49" charset="0"/>
              </a:rPr>
              <a:t>contrast, long-duration content is rarely watched, with only 5 users out of 9,155 (&lt;0.1%) viewing it, emphasizing a strong preference for brief, easily consumable programs.</a:t>
            </a:r>
            <a:endParaRPr lang="en-ZA" sz="1100" dirty="0">
              <a:latin typeface="Consolas" panose="020B0609020204030204" pitchFamily="49" charset="0"/>
            </a:endParaRPr>
          </a:p>
        </p:txBody>
      </p:sp>
      <p:pic>
        <p:nvPicPr>
          <p:cNvPr id="3" name="Picture 2"/>
          <p:cNvPicPr>
            <a:picLocks noChangeAspect="1"/>
          </p:cNvPicPr>
          <p:nvPr/>
        </p:nvPicPr>
        <p:blipFill>
          <a:blip r:embed="rId2"/>
          <a:stretch>
            <a:fillRect/>
          </a:stretch>
        </p:blipFill>
        <p:spPr>
          <a:xfrm>
            <a:off x="364405" y="1674192"/>
            <a:ext cx="5731595" cy="2755631"/>
          </a:xfrm>
          <a:prstGeom prst="rect">
            <a:avLst/>
          </a:prstGeom>
        </p:spPr>
      </p:pic>
      <p:pic>
        <p:nvPicPr>
          <p:cNvPr id="4" name="Picture 3"/>
          <p:cNvPicPr>
            <a:picLocks noChangeAspect="1"/>
          </p:cNvPicPr>
          <p:nvPr/>
        </p:nvPicPr>
        <p:blipFill>
          <a:blip r:embed="rId3"/>
          <a:stretch>
            <a:fillRect/>
          </a:stretch>
        </p:blipFill>
        <p:spPr>
          <a:xfrm>
            <a:off x="6737782" y="1674193"/>
            <a:ext cx="5053166" cy="2755631"/>
          </a:xfrm>
          <a:prstGeom prst="rect">
            <a:avLst/>
          </a:prstGeom>
        </p:spPr>
      </p:pic>
    </p:spTree>
    <p:extLst>
      <p:ext uri="{BB962C8B-B14F-4D97-AF65-F5344CB8AC3E}">
        <p14:creationId xmlns:p14="http://schemas.microsoft.com/office/powerpoint/2010/main" val="2424338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fontScale="90000"/>
          </a:bodyPr>
          <a:lstStyle/>
          <a:p>
            <a:r>
              <a:rPr lang="en-US" dirty="0"/>
              <a:t>User Race: Channel and Duration Preferences</a:t>
            </a:r>
            <a:endParaRPr lang="en-US" dirty="0"/>
          </a:p>
        </p:txBody>
      </p:sp>
      <p:sp>
        <p:nvSpPr>
          <p:cNvPr id="9" name="TextBox 8"/>
          <p:cNvSpPr txBox="1"/>
          <p:nvPr/>
        </p:nvSpPr>
        <p:spPr>
          <a:xfrm flipH="1">
            <a:off x="361045" y="4455810"/>
            <a:ext cx="4997018" cy="2292935"/>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T</a:t>
            </a:r>
            <a:r>
              <a:rPr lang="en-US" sz="1100" dirty="0" smtClean="0">
                <a:latin typeface="Consolas" panose="020B0609020204030204" pitchFamily="49" charset="0"/>
              </a:rPr>
              <a:t>he </a:t>
            </a:r>
            <a:r>
              <a:rPr lang="en-US" sz="1100" dirty="0">
                <a:latin typeface="Consolas" panose="020B0609020204030204" pitchFamily="49" charset="0"/>
              </a:rPr>
              <a:t>Black </a:t>
            </a:r>
            <a:r>
              <a:rPr lang="en-US" sz="1100" dirty="0" smtClean="0">
                <a:latin typeface="Consolas" panose="020B0609020204030204" pitchFamily="49" charset="0"/>
              </a:rPr>
              <a:t>race has strong </a:t>
            </a:r>
            <a:r>
              <a:rPr lang="en-US" sz="1100" dirty="0">
                <a:latin typeface="Consolas" panose="020B0609020204030204" pitchFamily="49" charset="0"/>
              </a:rPr>
              <a:t>engagement on Music, where they account for 63% of </a:t>
            </a:r>
            <a:r>
              <a:rPr lang="en-US" sz="1100" dirty="0" smtClean="0">
                <a:latin typeface="Consolas" panose="020B0609020204030204" pitchFamily="49" charset="0"/>
              </a:rPr>
              <a:t>all black </a:t>
            </a:r>
            <a:r>
              <a:rPr lang="en-US" sz="1100" dirty="0">
                <a:latin typeface="Consolas" panose="020B0609020204030204" pitchFamily="49" charset="0"/>
              </a:rPr>
              <a:t>viewers </a:t>
            </a:r>
            <a:r>
              <a:rPr lang="en-US" sz="1100" dirty="0" smtClean="0">
                <a:latin typeface="Consolas" panose="020B0609020204030204" pitchFamily="49" charset="0"/>
              </a:rPr>
              <a:t>and </a:t>
            </a:r>
            <a:r>
              <a:rPr lang="en-US" sz="1100" dirty="0">
                <a:latin typeface="Consolas" panose="020B0609020204030204" pitchFamily="49" charset="0"/>
              </a:rPr>
              <a:t>on Special Events, making up 55% of </a:t>
            </a:r>
            <a:r>
              <a:rPr lang="en-US" sz="1100" dirty="0" smtClean="0">
                <a:latin typeface="Consolas" panose="020B0609020204030204" pitchFamily="49" charset="0"/>
              </a:rPr>
              <a:t>black viewers. </a:t>
            </a:r>
          </a:p>
          <a:p>
            <a:pPr marL="171450" indent="-171450">
              <a:buFont typeface="Arial" panose="020B0604020202020204" pitchFamily="34" charset="0"/>
              <a:buChar char="•"/>
            </a:pPr>
            <a:r>
              <a:rPr lang="en-US" sz="1100" dirty="0" smtClean="0">
                <a:latin typeface="Consolas" panose="020B0609020204030204" pitchFamily="49" charset="0"/>
              </a:rPr>
              <a:t>In </a:t>
            </a:r>
            <a:r>
              <a:rPr lang="en-US" sz="1100" dirty="0">
                <a:latin typeface="Consolas" panose="020B0609020204030204" pitchFamily="49" charset="0"/>
              </a:rPr>
              <a:t>contrast, the Other race group contributes very little, representing only 1% of Music viewers </a:t>
            </a:r>
            <a:r>
              <a:rPr lang="en-US" sz="1100" dirty="0" smtClean="0">
                <a:latin typeface="Consolas" panose="020B0609020204030204" pitchFamily="49" charset="0"/>
              </a:rPr>
              <a:t>and </a:t>
            </a:r>
            <a:r>
              <a:rPr lang="en-US" sz="1100" dirty="0">
                <a:latin typeface="Consolas" panose="020B0609020204030204" pitchFamily="49" charset="0"/>
              </a:rPr>
              <a:t>showing no participation in Movies out of 108 users. </a:t>
            </a:r>
            <a:endParaRPr lang="en-US" sz="1100" dirty="0" smtClean="0">
              <a:latin typeface="Consolas" panose="020B0609020204030204" pitchFamily="49" charset="0"/>
            </a:endParaRP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At </a:t>
            </a:r>
            <a:r>
              <a:rPr lang="en-US" sz="1100" dirty="0">
                <a:latin typeface="Consolas" panose="020B0609020204030204" pitchFamily="49" charset="0"/>
              </a:rPr>
              <a:t>the channel level, Sport stands out as the most watched channel, attracting 39% of all users </a:t>
            </a:r>
            <a:r>
              <a:rPr lang="en-US" sz="1100" dirty="0" smtClean="0">
                <a:latin typeface="Consolas" panose="020B0609020204030204" pitchFamily="49" charset="0"/>
              </a:rPr>
              <a:t>,while </a:t>
            </a:r>
            <a:r>
              <a:rPr lang="en-US" sz="1100" dirty="0">
                <a:latin typeface="Consolas" panose="020B0609020204030204" pitchFamily="49" charset="0"/>
              </a:rPr>
              <a:t>Special Events is the least watched, with only 0.1% of </a:t>
            </a:r>
            <a:r>
              <a:rPr lang="en-US" sz="1100" dirty="0" smtClean="0">
                <a:latin typeface="Consolas" panose="020B0609020204030204" pitchFamily="49" charset="0"/>
              </a:rPr>
              <a:t>users. </a:t>
            </a:r>
          </a:p>
          <a:p>
            <a:pPr marL="171450" indent="-171450">
              <a:buFont typeface="Arial" panose="020B0604020202020204" pitchFamily="34" charset="0"/>
              <a:buChar char="•"/>
            </a:pPr>
            <a:r>
              <a:rPr lang="en-US" sz="1100" dirty="0" smtClean="0">
                <a:latin typeface="Consolas" panose="020B0609020204030204" pitchFamily="49" charset="0"/>
              </a:rPr>
              <a:t>Overall</a:t>
            </a:r>
            <a:r>
              <a:rPr lang="en-US" sz="1100" dirty="0">
                <a:latin typeface="Consolas" panose="020B0609020204030204" pitchFamily="49" charset="0"/>
              </a:rPr>
              <a:t>, the patterns highlight that Black users drive the majority of viewership, while engagement from other racial groups remains minimal</a:t>
            </a:r>
            <a:r>
              <a:rPr lang="en-US" sz="1100" dirty="0" smtClean="0">
                <a:latin typeface="Consolas" panose="020B0609020204030204" pitchFamily="49" charset="0"/>
              </a:rPr>
              <a:t>.</a:t>
            </a:r>
            <a:endParaRPr lang="en-ZA" sz="1100" dirty="0">
              <a:latin typeface="Consolas" panose="020B0609020204030204" pitchFamily="49" charset="0"/>
            </a:endParaRPr>
          </a:p>
        </p:txBody>
      </p:sp>
      <p:sp>
        <p:nvSpPr>
          <p:cNvPr id="10" name="TextBox 9"/>
          <p:cNvSpPr txBox="1"/>
          <p:nvPr/>
        </p:nvSpPr>
        <p:spPr>
          <a:xfrm>
            <a:off x="6320978" y="4516965"/>
            <a:ext cx="4584589" cy="2123658"/>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Short films are the most preferred across all races, while long films receive almost no engagement.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The </a:t>
            </a:r>
            <a:r>
              <a:rPr lang="en-US" sz="1100" dirty="0">
                <a:latin typeface="Consolas" panose="020B0609020204030204" pitchFamily="49" charset="0"/>
              </a:rPr>
              <a:t>Black race dominates overall viewership, with 4,218 out of 4,478 users (~94%) watching short films and no participation in long films. </a:t>
            </a:r>
            <a:endParaRPr lang="en-US" sz="1100" dirty="0" smtClean="0">
              <a:latin typeface="Consolas" panose="020B0609020204030204" pitchFamily="49" charset="0"/>
            </a:endParaRP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The </a:t>
            </a:r>
            <a:r>
              <a:rPr lang="en-US" sz="1100" dirty="0">
                <a:latin typeface="Consolas" panose="020B0609020204030204" pitchFamily="49" charset="0"/>
              </a:rPr>
              <a:t>Other race shows significantly lower engagement, with 99 out of 108 users (~92%) watching short films and also no views recorded for long films. </a:t>
            </a:r>
            <a:endParaRPr lang="en-US" sz="1100" dirty="0" smtClean="0">
              <a:latin typeface="Consolas" panose="020B0609020204030204" pitchFamily="49" charset="0"/>
            </a:endParaRP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This </a:t>
            </a:r>
            <a:r>
              <a:rPr lang="en-US" sz="1100" dirty="0">
                <a:latin typeface="Consolas" panose="020B0609020204030204" pitchFamily="49" charset="0"/>
              </a:rPr>
              <a:t>pattern clearly indicates a strong preference for short-form content across all racial groups.</a:t>
            </a:r>
            <a:endParaRPr lang="en-ZA" sz="1100" dirty="0">
              <a:latin typeface="Consolas" panose="020B0609020204030204" pitchFamily="49" charset="0"/>
            </a:endParaRPr>
          </a:p>
        </p:txBody>
      </p:sp>
      <p:pic>
        <p:nvPicPr>
          <p:cNvPr id="3" name="Picture 2"/>
          <p:cNvPicPr>
            <a:picLocks noChangeAspect="1"/>
          </p:cNvPicPr>
          <p:nvPr/>
        </p:nvPicPr>
        <p:blipFill>
          <a:blip r:embed="rId2"/>
          <a:stretch>
            <a:fillRect/>
          </a:stretch>
        </p:blipFill>
        <p:spPr>
          <a:xfrm>
            <a:off x="6320978" y="1571245"/>
            <a:ext cx="4584589" cy="2755631"/>
          </a:xfrm>
          <a:prstGeom prst="rect">
            <a:avLst/>
          </a:prstGeom>
        </p:spPr>
      </p:pic>
      <p:pic>
        <p:nvPicPr>
          <p:cNvPr id="4" name="Picture 3"/>
          <p:cNvPicPr>
            <a:picLocks noChangeAspect="1"/>
          </p:cNvPicPr>
          <p:nvPr/>
        </p:nvPicPr>
        <p:blipFill>
          <a:blip r:embed="rId3"/>
          <a:stretch>
            <a:fillRect/>
          </a:stretch>
        </p:blipFill>
        <p:spPr>
          <a:xfrm>
            <a:off x="361045" y="1574294"/>
            <a:ext cx="4584589" cy="2749534"/>
          </a:xfrm>
          <a:prstGeom prst="rect">
            <a:avLst/>
          </a:prstGeom>
        </p:spPr>
      </p:pic>
    </p:spTree>
    <p:extLst>
      <p:ext uri="{BB962C8B-B14F-4D97-AF65-F5344CB8AC3E}">
        <p14:creationId xmlns:p14="http://schemas.microsoft.com/office/powerpoint/2010/main" val="154510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597234" y="485587"/>
            <a:ext cx="11029616" cy="740156"/>
          </a:xfrm>
        </p:spPr>
        <p:txBody>
          <a:bodyPr>
            <a:normAutofit fontScale="90000"/>
          </a:bodyPr>
          <a:lstStyle/>
          <a:p>
            <a:r>
              <a:rPr lang="en-ZA" i="1" dirty="0"/>
              <a:t>User Province: Channel and Duration Preferences</a:t>
            </a:r>
            <a:endParaRPr lang="en-US" dirty="0"/>
          </a:p>
        </p:txBody>
      </p:sp>
      <p:sp>
        <p:nvSpPr>
          <p:cNvPr id="9" name="TextBox 8"/>
          <p:cNvSpPr txBox="1"/>
          <p:nvPr/>
        </p:nvSpPr>
        <p:spPr>
          <a:xfrm flipH="1">
            <a:off x="433236" y="4495552"/>
            <a:ext cx="4578492" cy="2569934"/>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Sports is the most preferred channel across all provinces, while Special Events receives the least engagement.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Gauteng </a:t>
            </a:r>
            <a:r>
              <a:rPr lang="en-US" sz="1100" dirty="0">
                <a:latin typeface="Consolas" panose="020B0609020204030204" pitchFamily="49" charset="0"/>
              </a:rPr>
              <a:t>leads in overall viewership, with 1,344 out of 3,437 users (~39%) watching Sports and only 28 users engaging with Movies.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In </a:t>
            </a:r>
            <a:r>
              <a:rPr lang="en-US" sz="1100" dirty="0">
                <a:latin typeface="Consolas" panose="020B0609020204030204" pitchFamily="49" charset="0"/>
              </a:rPr>
              <a:t>contrast, the Northern Cape shows lower overall activity but follows a similar pattern, with 741 out of 1,651 users (~45%) watching Sports and just 15 users viewing Special Events.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This </a:t>
            </a:r>
            <a:r>
              <a:rPr lang="en-US" sz="1100" dirty="0">
                <a:latin typeface="Consolas" panose="020B0609020204030204" pitchFamily="49" charset="0"/>
              </a:rPr>
              <a:t>trend highlights the strong dominance of sports content across provinces and the limited appeal of special event programming.</a:t>
            </a:r>
          </a:p>
          <a:p>
            <a:endParaRPr lang="en-ZA" dirty="0"/>
          </a:p>
        </p:txBody>
      </p:sp>
      <p:sp>
        <p:nvSpPr>
          <p:cNvPr id="10" name="TextBox 9"/>
          <p:cNvSpPr txBox="1"/>
          <p:nvPr/>
        </p:nvSpPr>
        <p:spPr>
          <a:xfrm>
            <a:off x="6441099" y="4501649"/>
            <a:ext cx="4584589" cy="2292935"/>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Short films are the most preferred across all provinces, while long films show almost no engagement.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Gauteng </a:t>
            </a:r>
            <a:r>
              <a:rPr lang="en-US" sz="1100" dirty="0">
                <a:latin typeface="Consolas" panose="020B0609020204030204" pitchFamily="49" charset="0"/>
              </a:rPr>
              <a:t>leads in overall viewership, with 3,231 out of 3,437 users (~94%) watching short films and only 2 users engaging with long films</a:t>
            </a:r>
            <a:r>
              <a:rPr lang="en-US" sz="1100" dirty="0" smtClean="0">
                <a:latin typeface="Consolas" panose="020B0609020204030204" pitchFamily="49" charset="0"/>
              </a:rPr>
              <a:t>.</a:t>
            </a:r>
          </a:p>
          <a:p>
            <a:r>
              <a:rPr lang="en-US" sz="1100" dirty="0" smtClean="0">
                <a:latin typeface="Consolas" panose="020B0609020204030204" pitchFamily="49" charset="0"/>
              </a:rPr>
              <a:t> </a:t>
            </a:r>
          </a:p>
          <a:p>
            <a:pPr marL="171450" indent="-171450">
              <a:buFont typeface="Arial" panose="020B0604020202020204" pitchFamily="34" charset="0"/>
              <a:buChar char="•"/>
            </a:pPr>
            <a:r>
              <a:rPr lang="en-US" sz="1100" dirty="0" smtClean="0">
                <a:latin typeface="Consolas" panose="020B0609020204030204" pitchFamily="49" charset="0"/>
              </a:rPr>
              <a:t>In </a:t>
            </a:r>
            <a:r>
              <a:rPr lang="en-US" sz="1100" dirty="0">
                <a:latin typeface="Consolas" panose="020B0609020204030204" pitchFamily="49" charset="0"/>
              </a:rPr>
              <a:t>contrast, the Northern Cape shows much lower overall engagement but follows the same pattern, with 210 out of 220 users (~95%) watching short films and no views recorded for long films.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This </a:t>
            </a:r>
            <a:r>
              <a:rPr lang="en-US" sz="1100" dirty="0">
                <a:latin typeface="Consolas" panose="020B0609020204030204" pitchFamily="49" charset="0"/>
              </a:rPr>
              <a:t>trend highlights a strong and consistent preference for short-form content across all provinces.</a:t>
            </a:r>
            <a:endParaRPr lang="en-ZA" sz="1100" dirty="0">
              <a:latin typeface="Consolas" panose="020B0609020204030204" pitchFamily="49" charset="0"/>
            </a:endParaRPr>
          </a:p>
        </p:txBody>
      </p:sp>
      <p:pic>
        <p:nvPicPr>
          <p:cNvPr id="3" name="Picture 2"/>
          <p:cNvPicPr>
            <a:picLocks noChangeAspect="1"/>
          </p:cNvPicPr>
          <p:nvPr/>
        </p:nvPicPr>
        <p:blipFill>
          <a:blip r:embed="rId2"/>
          <a:stretch>
            <a:fillRect/>
          </a:stretch>
        </p:blipFill>
        <p:spPr>
          <a:xfrm>
            <a:off x="433235" y="1594165"/>
            <a:ext cx="4578493" cy="2749534"/>
          </a:xfrm>
          <a:prstGeom prst="rect">
            <a:avLst/>
          </a:prstGeom>
        </p:spPr>
      </p:pic>
      <p:pic>
        <p:nvPicPr>
          <p:cNvPr id="4" name="Picture 3"/>
          <p:cNvPicPr>
            <a:picLocks noChangeAspect="1"/>
          </p:cNvPicPr>
          <p:nvPr/>
        </p:nvPicPr>
        <p:blipFill>
          <a:blip r:embed="rId3"/>
          <a:stretch>
            <a:fillRect/>
          </a:stretch>
        </p:blipFill>
        <p:spPr>
          <a:xfrm>
            <a:off x="6441100" y="1594165"/>
            <a:ext cx="4584589" cy="2755631"/>
          </a:xfrm>
          <a:prstGeom prst="rect">
            <a:avLst/>
          </a:prstGeom>
        </p:spPr>
      </p:pic>
    </p:spTree>
    <p:extLst>
      <p:ext uri="{BB962C8B-B14F-4D97-AF65-F5344CB8AC3E}">
        <p14:creationId xmlns:p14="http://schemas.microsoft.com/office/powerpoint/2010/main" val="1262926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fontScale="90000"/>
          </a:bodyPr>
          <a:lstStyle/>
          <a:p>
            <a:r>
              <a:rPr lang="en-US" dirty="0"/>
              <a:t>User Gender: Channel and Duration Preferences</a:t>
            </a:r>
            <a:endParaRPr lang="en-US" dirty="0"/>
          </a:p>
        </p:txBody>
      </p:sp>
      <p:sp>
        <p:nvSpPr>
          <p:cNvPr id="9" name="TextBox 8"/>
          <p:cNvSpPr txBox="1"/>
          <p:nvPr/>
        </p:nvSpPr>
        <p:spPr>
          <a:xfrm flipH="1">
            <a:off x="479611" y="4651471"/>
            <a:ext cx="4804513" cy="2123658"/>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Sports is the most preferred channel across all genders, while Special Events receives the least engagement.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Male </a:t>
            </a:r>
            <a:r>
              <a:rPr lang="en-US" sz="1100" dirty="0">
                <a:latin typeface="Consolas" panose="020B0609020204030204" pitchFamily="49" charset="0"/>
              </a:rPr>
              <a:t>users dominate overall viewership, with 3,392 out of 8,261 males (~41%) watching Sports and only 78 males engaging with Special Events.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Female </a:t>
            </a:r>
            <a:r>
              <a:rPr lang="en-US" sz="1100" dirty="0">
                <a:latin typeface="Consolas" panose="020B0609020204030204" pitchFamily="49" charset="0"/>
              </a:rPr>
              <a:t>users show significantly lower overall engagement, with 257 out of 894 females (~29%) watching Music and just 13 females viewing Special Events. </a:t>
            </a:r>
            <a:endParaRPr lang="en-US" sz="1100" dirty="0" smtClean="0">
              <a:latin typeface="Consolas" panose="020B0609020204030204" pitchFamily="49" charset="0"/>
            </a:endParaRP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These </a:t>
            </a:r>
            <a:r>
              <a:rPr lang="en-US" sz="1100" dirty="0">
                <a:latin typeface="Consolas" panose="020B0609020204030204" pitchFamily="49" charset="0"/>
              </a:rPr>
              <a:t>patterns highlight that males drive the majority of channel viewership, while Special Events remains the least appealing channel for both genders.</a:t>
            </a:r>
            <a:endParaRPr lang="en-ZA" sz="1100" dirty="0">
              <a:latin typeface="Consolas" panose="020B0609020204030204" pitchFamily="49" charset="0"/>
            </a:endParaRPr>
          </a:p>
        </p:txBody>
      </p:sp>
      <p:sp>
        <p:nvSpPr>
          <p:cNvPr id="10" name="TextBox 9"/>
          <p:cNvSpPr txBox="1"/>
          <p:nvPr/>
        </p:nvSpPr>
        <p:spPr>
          <a:xfrm>
            <a:off x="6442432" y="4651471"/>
            <a:ext cx="4578493" cy="2123658"/>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Male users dominate overall viewership, showing significantly higher engagement than females.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Among </a:t>
            </a:r>
            <a:r>
              <a:rPr lang="en-US" sz="1100" dirty="0">
                <a:latin typeface="Consolas" panose="020B0609020204030204" pitchFamily="49" charset="0"/>
              </a:rPr>
              <a:t>males, 7,817 out of 8,261 (~95%) watch short films, while only 5 males engage with long films. </a:t>
            </a:r>
            <a:endParaRPr lang="en-US" sz="1100" dirty="0" smtClean="0">
              <a:latin typeface="Consolas" panose="020B0609020204030204" pitchFamily="49" charset="0"/>
            </a:endParaRP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Female </a:t>
            </a:r>
            <a:r>
              <a:rPr lang="en-US" sz="1100" dirty="0">
                <a:latin typeface="Consolas" panose="020B0609020204030204" pitchFamily="49" charset="0"/>
              </a:rPr>
              <a:t>users follow a similar pattern, with 820 out of 894 (~92%) watching short films and no recorded views for long films.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Overall</a:t>
            </a:r>
            <a:r>
              <a:rPr lang="en-US" sz="1100" dirty="0">
                <a:latin typeface="Consolas" panose="020B0609020204030204" pitchFamily="49" charset="0"/>
              </a:rPr>
              <a:t>, short films are the most preferred content across both genders, while long films receive almost no engagement.</a:t>
            </a:r>
            <a:endParaRPr lang="en-ZA" sz="1100" dirty="0">
              <a:latin typeface="Consolas" panose="020B0609020204030204" pitchFamily="49" charset="0"/>
            </a:endParaRPr>
          </a:p>
        </p:txBody>
      </p:sp>
      <p:pic>
        <p:nvPicPr>
          <p:cNvPr id="3" name="Picture 2"/>
          <p:cNvPicPr>
            <a:picLocks noChangeAspect="1"/>
          </p:cNvPicPr>
          <p:nvPr/>
        </p:nvPicPr>
        <p:blipFill>
          <a:blip r:embed="rId2"/>
          <a:stretch>
            <a:fillRect/>
          </a:stretch>
        </p:blipFill>
        <p:spPr>
          <a:xfrm>
            <a:off x="6442432" y="1696878"/>
            <a:ext cx="4578493" cy="2749534"/>
          </a:xfrm>
          <a:prstGeom prst="rect">
            <a:avLst/>
          </a:prstGeom>
        </p:spPr>
      </p:pic>
      <p:pic>
        <p:nvPicPr>
          <p:cNvPr id="4" name="Picture 3"/>
          <p:cNvPicPr>
            <a:picLocks noChangeAspect="1"/>
          </p:cNvPicPr>
          <p:nvPr/>
        </p:nvPicPr>
        <p:blipFill>
          <a:blip r:embed="rId3"/>
          <a:stretch>
            <a:fillRect/>
          </a:stretch>
        </p:blipFill>
        <p:spPr>
          <a:xfrm>
            <a:off x="558071" y="1690781"/>
            <a:ext cx="4519254" cy="2755631"/>
          </a:xfrm>
          <a:prstGeom prst="rect">
            <a:avLst/>
          </a:prstGeom>
        </p:spPr>
      </p:pic>
    </p:spTree>
    <p:extLst>
      <p:ext uri="{BB962C8B-B14F-4D97-AF65-F5344CB8AC3E}">
        <p14:creationId xmlns:p14="http://schemas.microsoft.com/office/powerpoint/2010/main" val="204266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541087" y="469545"/>
            <a:ext cx="11029616" cy="740156"/>
          </a:xfrm>
        </p:spPr>
        <p:txBody>
          <a:bodyPr>
            <a:normAutofit fontScale="90000"/>
          </a:bodyPr>
          <a:lstStyle/>
          <a:p>
            <a:r>
              <a:rPr lang="en-US" dirty="0"/>
              <a:t>Weekly Consumption Patterns by Channel and Duration</a:t>
            </a:r>
            <a:endParaRPr lang="en-US" dirty="0"/>
          </a:p>
        </p:txBody>
      </p:sp>
      <p:sp>
        <p:nvSpPr>
          <p:cNvPr id="9" name="TextBox 8"/>
          <p:cNvSpPr txBox="1"/>
          <p:nvPr/>
        </p:nvSpPr>
        <p:spPr>
          <a:xfrm flipH="1">
            <a:off x="439022" y="4397555"/>
            <a:ext cx="4865030" cy="2231380"/>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Weekdays consistently record higher viewership than weekends</a:t>
            </a:r>
            <a:r>
              <a:rPr lang="en-US" sz="1100" dirty="0" smtClean="0">
                <a:latin typeface="Consolas" panose="020B0609020204030204" pitchFamily="49" charset="0"/>
              </a:rPr>
              <a:t>.</a:t>
            </a: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 </a:t>
            </a:r>
            <a:r>
              <a:rPr lang="en-US" sz="1100" dirty="0">
                <a:latin typeface="Consolas" panose="020B0609020204030204" pitchFamily="49" charset="0"/>
              </a:rPr>
              <a:t>On weekdays, 2,498 out of 6,221 users (~40%) watch Sports, while only 61 users engage with Special Events.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During </a:t>
            </a:r>
            <a:r>
              <a:rPr lang="en-US" sz="1100" dirty="0">
                <a:latin typeface="Consolas" panose="020B0609020204030204" pitchFamily="49" charset="0"/>
              </a:rPr>
              <a:t>weekends, 1,082 out of 2,934 users (~37%) watch Sports, and 30 users view Special Events.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Overall</a:t>
            </a:r>
            <a:r>
              <a:rPr lang="en-US" sz="1100" dirty="0">
                <a:latin typeface="Consolas" panose="020B0609020204030204" pitchFamily="49" charset="0"/>
              </a:rPr>
              <a:t>, Sports remains the most preferred channel throughout the week, whereas Special Events consistently attracts the least engagement.</a:t>
            </a:r>
          </a:p>
          <a:p>
            <a:endParaRPr lang="en-ZA" dirty="0"/>
          </a:p>
        </p:txBody>
      </p:sp>
      <p:sp>
        <p:nvSpPr>
          <p:cNvPr id="10" name="TextBox 9"/>
          <p:cNvSpPr txBox="1"/>
          <p:nvPr/>
        </p:nvSpPr>
        <p:spPr>
          <a:xfrm>
            <a:off x="6428317" y="4397555"/>
            <a:ext cx="4852543" cy="2292935"/>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Throughout the week, short films are consistently preferred, while long films receive minimal engagement</a:t>
            </a:r>
            <a:r>
              <a:rPr lang="en-US" sz="1100" dirty="0" smtClean="0">
                <a:latin typeface="Consolas" panose="020B0609020204030204" pitchFamily="49" charset="0"/>
              </a:rPr>
              <a:t>. </a:t>
            </a:r>
          </a:p>
          <a:p>
            <a:pPr marL="171450" indent="-171450">
              <a:buFont typeface="Arial" panose="020B0604020202020204" pitchFamily="34" charset="0"/>
              <a:buChar char="•"/>
            </a:pPr>
            <a:r>
              <a:rPr lang="en-US" sz="1100" dirty="0" smtClean="0">
                <a:latin typeface="Consolas" panose="020B0609020204030204" pitchFamily="49" charset="0"/>
              </a:rPr>
              <a:t>During </a:t>
            </a:r>
            <a:r>
              <a:rPr lang="en-US" sz="1100" dirty="0">
                <a:latin typeface="Consolas" panose="020B0609020204030204" pitchFamily="49" charset="0"/>
              </a:rPr>
              <a:t>weekdays, viewership is highest, with 6,030 out of 6,221 watches (~97%) for short films and only 3 watches for long films.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Weekends </a:t>
            </a:r>
            <a:r>
              <a:rPr lang="en-US" sz="1100" dirty="0">
                <a:latin typeface="Consolas" panose="020B0609020204030204" pitchFamily="49" charset="0"/>
              </a:rPr>
              <a:t>show lower overall engagement, with 2,607 out of 2,934 watches (~89%) for short films and just 2 watches for long films.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This </a:t>
            </a:r>
            <a:r>
              <a:rPr lang="en-US" sz="1100" dirty="0">
                <a:latin typeface="Consolas" panose="020B0609020204030204" pitchFamily="49" charset="0"/>
              </a:rPr>
              <a:t>highlights a strong and consistent audience preference for short-form content throughout the week, with peak activity occurring on weekdays.</a:t>
            </a:r>
            <a:endParaRPr lang="en-ZA" sz="1100" dirty="0">
              <a:latin typeface="Consolas" panose="020B0609020204030204" pitchFamily="49" charset="0"/>
            </a:endParaRPr>
          </a:p>
        </p:txBody>
      </p:sp>
      <p:pic>
        <p:nvPicPr>
          <p:cNvPr id="5" name="Picture 4"/>
          <p:cNvPicPr>
            <a:picLocks noChangeAspect="1"/>
          </p:cNvPicPr>
          <p:nvPr/>
        </p:nvPicPr>
        <p:blipFill>
          <a:blip r:embed="rId2"/>
          <a:stretch>
            <a:fillRect/>
          </a:stretch>
        </p:blipFill>
        <p:spPr>
          <a:xfrm>
            <a:off x="439022" y="1542118"/>
            <a:ext cx="4865030" cy="2755631"/>
          </a:xfrm>
          <a:prstGeom prst="rect">
            <a:avLst/>
          </a:prstGeom>
        </p:spPr>
      </p:pic>
      <p:pic>
        <p:nvPicPr>
          <p:cNvPr id="6" name="Picture 5"/>
          <p:cNvPicPr>
            <a:picLocks noChangeAspect="1"/>
          </p:cNvPicPr>
          <p:nvPr/>
        </p:nvPicPr>
        <p:blipFill>
          <a:blip r:embed="rId3"/>
          <a:stretch>
            <a:fillRect/>
          </a:stretch>
        </p:blipFill>
        <p:spPr>
          <a:xfrm>
            <a:off x="6055895" y="1542118"/>
            <a:ext cx="5919537" cy="2755631"/>
          </a:xfrm>
          <a:prstGeom prst="rect">
            <a:avLst/>
          </a:prstGeom>
        </p:spPr>
      </p:pic>
    </p:spTree>
    <p:extLst>
      <p:ext uri="{BB962C8B-B14F-4D97-AF65-F5344CB8AC3E}">
        <p14:creationId xmlns:p14="http://schemas.microsoft.com/office/powerpoint/2010/main" val="818942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709529" y="429441"/>
            <a:ext cx="11029616" cy="740156"/>
          </a:xfrm>
        </p:spPr>
        <p:txBody>
          <a:bodyPr>
            <a:normAutofit fontScale="90000"/>
          </a:bodyPr>
          <a:lstStyle/>
          <a:p>
            <a:r>
              <a:rPr lang="en-US" dirty="0" smtClean="0"/>
              <a:t>monthly </a:t>
            </a:r>
            <a:r>
              <a:rPr lang="en-US" dirty="0"/>
              <a:t>Consumption Patterns by Channel and Duration</a:t>
            </a:r>
            <a:endParaRPr lang="en-US" dirty="0"/>
          </a:p>
        </p:txBody>
      </p:sp>
      <p:sp>
        <p:nvSpPr>
          <p:cNvPr id="9" name="TextBox 8"/>
          <p:cNvSpPr txBox="1"/>
          <p:nvPr/>
        </p:nvSpPr>
        <p:spPr>
          <a:xfrm flipH="1">
            <a:off x="361044" y="4566832"/>
            <a:ext cx="4800476" cy="2123658"/>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From January to March, Sports consistently attracts the highest viewership, while Special Events remains the least watched channel.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March </a:t>
            </a:r>
            <a:r>
              <a:rPr lang="en-US" sz="1100" dirty="0">
                <a:latin typeface="Consolas" panose="020B0609020204030204" pitchFamily="49" charset="0"/>
              </a:rPr>
              <a:t>records the most viewers overall, with 2,028 out of 4,248 users (~48%) watching Sports and only 30 users engaging with Special Events.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In </a:t>
            </a:r>
            <a:r>
              <a:rPr lang="en-US" sz="1100" dirty="0">
                <a:latin typeface="Consolas" panose="020B0609020204030204" pitchFamily="49" charset="0"/>
              </a:rPr>
              <a:t>contrast, January has the lowest overall viewership, with 600 out of 1,948 users (~31%) listening to Music and 35 users watching Movies.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These </a:t>
            </a:r>
            <a:r>
              <a:rPr lang="en-US" sz="1100" dirty="0">
                <a:latin typeface="Consolas" panose="020B0609020204030204" pitchFamily="49" charset="0"/>
              </a:rPr>
              <a:t>trends highlight that Sports is the dominant channel across the first quarter, whereas Special Events receives minimal engagement.</a:t>
            </a:r>
            <a:endParaRPr lang="en-ZA" sz="1100" dirty="0">
              <a:latin typeface="Consolas" panose="020B0609020204030204" pitchFamily="49" charset="0"/>
            </a:endParaRPr>
          </a:p>
        </p:txBody>
      </p:sp>
      <p:sp>
        <p:nvSpPr>
          <p:cNvPr id="10" name="TextBox 9"/>
          <p:cNvSpPr txBox="1"/>
          <p:nvPr/>
        </p:nvSpPr>
        <p:spPr>
          <a:xfrm>
            <a:off x="6025533" y="4643926"/>
            <a:ext cx="4584589" cy="2123658"/>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From January to March, short films dominate viewership, while long films receive minimal engagement.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March </a:t>
            </a:r>
            <a:r>
              <a:rPr lang="en-US" sz="1100" dirty="0">
                <a:latin typeface="Consolas" panose="020B0609020204030204" pitchFamily="49" charset="0"/>
              </a:rPr>
              <a:t>records the highest number of views, with 4,066 out of 4,248 users (~96%) watching short films and only 2 users engaging with long films. </a:t>
            </a:r>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January </a:t>
            </a:r>
            <a:r>
              <a:rPr lang="en-US" sz="1100" dirty="0">
                <a:latin typeface="Consolas" panose="020B0609020204030204" pitchFamily="49" charset="0"/>
              </a:rPr>
              <a:t>has the lowest overall viewership, with 1,907 out of 1,948 users (~98%) watching short films and no views recorded for long films. </a:t>
            </a:r>
            <a:endParaRPr lang="en-US" sz="1100" dirty="0" smtClean="0">
              <a:latin typeface="Consolas" panose="020B0609020204030204" pitchFamily="49" charset="0"/>
            </a:endParaRPr>
          </a:p>
          <a:p>
            <a:pPr marL="171450" indent="-171450">
              <a:buFont typeface="Arial" panose="020B0604020202020204" pitchFamily="34" charset="0"/>
              <a:buChar char="•"/>
            </a:pPr>
            <a:endParaRPr lang="en-US" sz="1100" dirty="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This </a:t>
            </a:r>
            <a:r>
              <a:rPr lang="en-US" sz="1100" dirty="0">
                <a:latin typeface="Consolas" panose="020B0609020204030204" pitchFamily="49" charset="0"/>
              </a:rPr>
              <a:t>trend highlights a consistent preference for short-form content throughout the first quarter of the year.</a:t>
            </a:r>
            <a:endParaRPr lang="en-ZA" sz="1100" dirty="0">
              <a:latin typeface="Consolas" panose="020B0609020204030204" pitchFamily="49" charset="0"/>
            </a:endParaRPr>
          </a:p>
        </p:txBody>
      </p:sp>
      <p:pic>
        <p:nvPicPr>
          <p:cNvPr id="4" name="Picture 3"/>
          <p:cNvPicPr>
            <a:picLocks noChangeAspect="1"/>
          </p:cNvPicPr>
          <p:nvPr/>
        </p:nvPicPr>
        <p:blipFill>
          <a:blip r:embed="rId2"/>
          <a:stretch>
            <a:fillRect/>
          </a:stretch>
        </p:blipFill>
        <p:spPr>
          <a:xfrm>
            <a:off x="6025534" y="1697168"/>
            <a:ext cx="4584589" cy="2755631"/>
          </a:xfrm>
          <a:prstGeom prst="rect">
            <a:avLst/>
          </a:prstGeom>
        </p:spPr>
      </p:pic>
      <p:graphicFrame>
        <p:nvGraphicFramePr>
          <p:cNvPr id="11" name="Chart 10"/>
          <p:cNvGraphicFramePr>
            <a:graphicFrameLocks/>
          </p:cNvGraphicFramePr>
          <p:nvPr>
            <p:extLst>
              <p:ext uri="{D42A27DB-BD31-4B8C-83A1-F6EECF244321}">
                <p14:modId xmlns:p14="http://schemas.microsoft.com/office/powerpoint/2010/main" val="2675952732"/>
              </p:ext>
            </p:extLst>
          </p:nvPr>
        </p:nvGraphicFramePr>
        <p:xfrm>
          <a:off x="449780" y="1709599"/>
          <a:ext cx="4467125"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789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581192" y="517671"/>
            <a:ext cx="11029616" cy="740156"/>
          </a:xfrm>
        </p:spPr>
        <p:txBody>
          <a:bodyPr>
            <a:normAutofit fontScale="90000"/>
          </a:bodyPr>
          <a:lstStyle/>
          <a:p>
            <a:r>
              <a:rPr lang="en-US" dirty="0"/>
              <a:t>Hourly Consumption Patterns by Channel and Duration</a:t>
            </a:r>
            <a:endParaRPr lang="en-US" dirty="0"/>
          </a:p>
        </p:txBody>
      </p:sp>
      <p:sp>
        <p:nvSpPr>
          <p:cNvPr id="9" name="TextBox 8"/>
          <p:cNvSpPr txBox="1"/>
          <p:nvPr/>
        </p:nvSpPr>
        <p:spPr>
          <a:xfrm flipH="1">
            <a:off x="312919" y="4501649"/>
            <a:ext cx="4956913" cy="2292935"/>
          </a:xfrm>
          <a:prstGeom prst="rect">
            <a:avLst/>
          </a:prstGeom>
          <a:noFill/>
        </p:spPr>
        <p:txBody>
          <a:bodyPr wrap="square" rtlCol="0">
            <a:spAutoFit/>
          </a:bodyPr>
          <a:lstStyle/>
          <a:p>
            <a:pPr marL="171450" indent="-171450">
              <a:buFont typeface="Arial" panose="020B0604020202020204" pitchFamily="34" charset="0"/>
              <a:buChar char="•"/>
            </a:pPr>
            <a:r>
              <a:rPr lang="en-US" sz="1100" dirty="0">
                <a:latin typeface="Consolas" panose="020B0609020204030204" pitchFamily="49" charset="0"/>
              </a:rPr>
              <a:t>Hourly viewership shows that short films dominate throughout the day, peaking at around 552 viewers between the 15th–20th hours and dipping to 43 viewers early in the day (0–4th hour</a:t>
            </a:r>
            <a:r>
              <a:rPr lang="en-US" sz="1100" dirty="0" smtClean="0">
                <a:latin typeface="Consolas" panose="020B0609020204030204" pitchFamily="49" charset="0"/>
              </a:rPr>
              <a:t>).</a:t>
            </a:r>
          </a:p>
          <a:p>
            <a:pPr marL="171450" indent="-171450">
              <a:buFont typeface="Arial" panose="020B0604020202020204" pitchFamily="34" charset="0"/>
              <a:buChar char="•"/>
            </a:pPr>
            <a:r>
              <a:rPr lang="en-US" sz="1100" dirty="0" smtClean="0">
                <a:latin typeface="Consolas" panose="020B0609020204030204" pitchFamily="49" charset="0"/>
              </a:rPr>
              <a:t> </a:t>
            </a:r>
            <a:r>
              <a:rPr lang="en-US" sz="1100" dirty="0">
                <a:latin typeface="Consolas" panose="020B0609020204030204" pitchFamily="49" charset="0"/>
              </a:rPr>
              <a:t>Medium films fluctuate, rising from 4 viewers in the early hours to 30 viewers mid-day, dipping briefly, and then rising again. </a:t>
            </a:r>
          </a:p>
          <a:p>
            <a:pPr marL="171450" indent="-171450">
              <a:buFont typeface="Arial" panose="020B0604020202020204" pitchFamily="34" charset="0"/>
              <a:buChar char="•"/>
            </a:pPr>
            <a:r>
              <a:rPr lang="en-US" sz="1100" dirty="0" smtClean="0">
                <a:latin typeface="Consolas" panose="020B0609020204030204" pitchFamily="49" charset="0"/>
              </a:rPr>
              <a:t>Long </a:t>
            </a:r>
            <a:r>
              <a:rPr lang="en-US" sz="1100" dirty="0">
                <a:latin typeface="Consolas" panose="020B0609020204030204" pitchFamily="49" charset="0"/>
              </a:rPr>
              <a:t>films receive minimal engagement, with only 2 views between the 16th–17th hours. </a:t>
            </a:r>
            <a:endParaRPr lang="en-US" sz="1100" dirty="0" smtClean="0">
              <a:latin typeface="Consolas" panose="020B0609020204030204" pitchFamily="49" charset="0"/>
            </a:endParaRPr>
          </a:p>
          <a:p>
            <a:endParaRPr lang="en-US" sz="1100" dirty="0" smtClean="0">
              <a:latin typeface="Consolas" panose="020B0609020204030204" pitchFamily="49" charset="0"/>
            </a:endParaRPr>
          </a:p>
          <a:p>
            <a:pPr marL="171450" indent="-171450">
              <a:buFont typeface="Arial" panose="020B0604020202020204" pitchFamily="34" charset="0"/>
              <a:buChar char="•"/>
            </a:pPr>
            <a:r>
              <a:rPr lang="en-US" sz="1100" dirty="0" smtClean="0">
                <a:latin typeface="Consolas" panose="020B0609020204030204" pitchFamily="49" charset="0"/>
              </a:rPr>
              <a:t>Overall</a:t>
            </a:r>
            <a:r>
              <a:rPr lang="en-US" sz="1100" dirty="0">
                <a:latin typeface="Consolas" panose="020B0609020204030204" pitchFamily="49" charset="0"/>
              </a:rPr>
              <a:t>, short films attract the most consistent attention, while medium and long films see limited and variable viewership.</a:t>
            </a:r>
            <a:endParaRPr lang="en-ZA" sz="1100" dirty="0">
              <a:latin typeface="Consolas" panose="020B0609020204030204" pitchFamily="49" charset="0"/>
            </a:endParaRPr>
          </a:p>
        </p:txBody>
      </p:sp>
      <p:pic>
        <p:nvPicPr>
          <p:cNvPr id="3" name="Picture 2"/>
          <p:cNvPicPr>
            <a:picLocks noChangeAspect="1"/>
          </p:cNvPicPr>
          <p:nvPr/>
        </p:nvPicPr>
        <p:blipFill>
          <a:blip r:embed="rId2"/>
          <a:stretch>
            <a:fillRect/>
          </a:stretch>
        </p:blipFill>
        <p:spPr>
          <a:xfrm>
            <a:off x="312919" y="1594165"/>
            <a:ext cx="4243184" cy="2755631"/>
          </a:xfrm>
          <a:prstGeom prst="rect">
            <a:avLst/>
          </a:prstGeom>
        </p:spPr>
      </p:pic>
    </p:spTree>
    <p:extLst>
      <p:ext uri="{BB962C8B-B14F-4D97-AF65-F5344CB8AC3E}">
        <p14:creationId xmlns:p14="http://schemas.microsoft.com/office/powerpoint/2010/main" val="714842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en-US" dirty="0" smtClean="0"/>
              <a:t>RECOMMENDATIONS</a:t>
            </a:r>
            <a:endParaRPr lang="en-US" dirty="0"/>
          </a:p>
        </p:txBody>
      </p:sp>
      <p:sp>
        <p:nvSpPr>
          <p:cNvPr id="7" name="TextBox 6"/>
          <p:cNvSpPr txBox="1"/>
          <p:nvPr/>
        </p:nvSpPr>
        <p:spPr>
          <a:xfrm>
            <a:off x="361044" y="1594165"/>
            <a:ext cx="9577039" cy="3693319"/>
          </a:xfrm>
          <a:prstGeom prst="rect">
            <a:avLst/>
          </a:prstGeom>
          <a:noFill/>
        </p:spPr>
        <p:txBody>
          <a:bodyPr wrap="square" rtlCol="0">
            <a:spAutoFit/>
          </a:bodyPr>
          <a:lstStyle/>
          <a:p>
            <a:r>
              <a:rPr lang="en-US" dirty="0"/>
              <a:t>Consumption on </a:t>
            </a:r>
            <a:r>
              <a:rPr lang="en-US" dirty="0" smtClean="0"/>
              <a:t>Bright TV </a:t>
            </a:r>
            <a:r>
              <a:rPr lang="en-US" dirty="0"/>
              <a:t>is shaped by several factors, including the relevance and appeal of the content, the convenience of viewing times, user demographics, seasonal trends, and how engaging or easy the platform is to use. </a:t>
            </a:r>
            <a:endParaRPr lang="en-US" dirty="0" smtClean="0"/>
          </a:p>
          <a:p>
            <a:endParaRPr lang="en-US" dirty="0"/>
          </a:p>
          <a:p>
            <a:r>
              <a:rPr lang="en-US" dirty="0" smtClean="0"/>
              <a:t>On </a:t>
            </a:r>
            <a:r>
              <a:rPr lang="en-US" dirty="0"/>
              <a:t>days with low consumption, viewer activity can be boosted by introducing high-interest content such as sports recaps, trending short-form entertainment, themed movie blocks, exclusive previews, or interactive content that encourages users to log in more frequently. </a:t>
            </a:r>
            <a:endParaRPr lang="en-US" dirty="0" smtClean="0"/>
          </a:p>
          <a:p>
            <a:endParaRPr lang="en-US" dirty="0"/>
          </a:p>
          <a:p>
            <a:r>
              <a:rPr lang="en-US" dirty="0" smtClean="0"/>
              <a:t>To </a:t>
            </a:r>
            <a:r>
              <a:rPr lang="en-US" dirty="0"/>
              <a:t>further expand </a:t>
            </a:r>
            <a:r>
              <a:rPr lang="en-US" dirty="0" smtClean="0"/>
              <a:t>Bright TV’s </a:t>
            </a:r>
            <a:r>
              <a:rPr lang="en-US" dirty="0"/>
              <a:t>overall user base, the platform can implement initiatives such as targeted digital advertising, personalized recommendations based on viewing patterns, promotional bundles, referral rewards, community engagement campaigns, and partnerships with influencers or entertainment brands. These strategies not only attract new users but also strengthen engagement among existing viewers, gradually increasing usage and long-term subscription growth.</a:t>
            </a:r>
            <a:endParaRPr lang="en-ZA" dirty="0"/>
          </a:p>
        </p:txBody>
      </p:sp>
    </p:spTree>
    <p:extLst>
      <p:ext uri="{BB962C8B-B14F-4D97-AF65-F5344CB8AC3E}">
        <p14:creationId xmlns:p14="http://schemas.microsoft.com/office/powerpoint/2010/main" val="3207380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en-US" dirty="0" smtClean="0"/>
              <a:t>CONCLUSION</a:t>
            </a:r>
            <a:endParaRPr lang="en-US" dirty="0"/>
          </a:p>
        </p:txBody>
      </p:sp>
      <p:sp>
        <p:nvSpPr>
          <p:cNvPr id="7" name="TextBox 6"/>
          <p:cNvSpPr txBox="1"/>
          <p:nvPr/>
        </p:nvSpPr>
        <p:spPr>
          <a:xfrm>
            <a:off x="457297" y="2043344"/>
            <a:ext cx="9312344" cy="3416320"/>
          </a:xfrm>
          <a:prstGeom prst="rect">
            <a:avLst/>
          </a:prstGeom>
          <a:noFill/>
        </p:spPr>
        <p:txBody>
          <a:bodyPr wrap="square" rtlCol="0">
            <a:spAutoFit/>
          </a:bodyPr>
          <a:lstStyle/>
          <a:p>
            <a:r>
              <a:rPr lang="en-US" dirty="0">
                <a:latin typeface="Consolas" panose="020B0609020204030204" pitchFamily="49" charset="0"/>
              </a:rPr>
              <a:t>Overall, the analysis shows that </a:t>
            </a:r>
            <a:r>
              <a:rPr lang="en-US" dirty="0" smtClean="0">
                <a:latin typeface="Consolas" panose="020B0609020204030204" pitchFamily="49" charset="0"/>
              </a:rPr>
              <a:t>Bright TV’s </a:t>
            </a:r>
            <a:r>
              <a:rPr lang="en-US" dirty="0">
                <a:latin typeface="Consolas" panose="020B0609020204030204" pitchFamily="49" charset="0"/>
              </a:rPr>
              <a:t>audience behavior is strongly influenced by content relevance, accessibility, and engagement value. Short-form content, sports programming, and high-interest entertainment consistently drive the highest consumption across demographics, days, and provinces. Increasing viewership on low-consumption days will require strategic content placement that aligns with audience preferences, while long-term growth will depend on targeted initiatives that enhance user experience, personalization, and platform visibility. By leveraging these insights, </a:t>
            </a:r>
            <a:r>
              <a:rPr lang="en-US" dirty="0" err="1">
                <a:latin typeface="Consolas" panose="020B0609020204030204" pitchFamily="49" charset="0"/>
              </a:rPr>
              <a:t>BrightTV</a:t>
            </a:r>
            <a:r>
              <a:rPr lang="en-US" dirty="0">
                <a:latin typeface="Consolas" panose="020B0609020204030204" pitchFamily="49" charset="0"/>
              </a:rPr>
              <a:t> is well positioned to improve daily consumption, strengthen user engagement, and expand its subscription base.</a:t>
            </a:r>
          </a:p>
          <a:p>
            <a:endParaRPr lang="en-ZA" dirty="0"/>
          </a:p>
        </p:txBody>
      </p:sp>
    </p:spTree>
    <p:extLst>
      <p:ext uri="{BB962C8B-B14F-4D97-AF65-F5344CB8AC3E}">
        <p14:creationId xmlns:p14="http://schemas.microsoft.com/office/powerpoint/2010/main" val="822685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CF6EF-906B-6B42-9DE3-1ACC6B1176DF}"/>
              </a:ext>
            </a:extLst>
          </p:cNvPr>
          <p:cNvSpPr>
            <a:spLocks noGrp="1"/>
          </p:cNvSpPr>
          <p:nvPr>
            <p:ph type="title"/>
          </p:nvPr>
        </p:nvSpPr>
        <p:spPr>
          <a:xfrm>
            <a:off x="1427524" y="2634263"/>
            <a:ext cx="9304867" cy="1613201"/>
          </a:xfrm>
        </p:spPr>
        <p:txBody>
          <a:bodyPr/>
          <a:lstStyle/>
          <a:p>
            <a:pPr defTabSz="412750" hangingPunct="0"/>
            <a:r>
              <a:rPr lang="en-US" kern="0" spc="340" dirty="0" smtClean="0">
                <a:latin typeface="Consolas" panose="020B0609020204030204" pitchFamily="49" charset="0"/>
                <a:sym typeface="Bodoni SvtyTwo ITC TT-Book"/>
              </a:rPr>
              <a:t>End of the presentation</a:t>
            </a:r>
            <a:endParaRPr lang="en-US" kern="0" spc="340" dirty="0">
              <a:latin typeface="Consolas" panose="020B0609020204030204" pitchFamily="49" charset="0"/>
              <a:sym typeface="Bodoni SvtyTwo ITC TT-Book"/>
            </a:endParaRPr>
          </a:p>
        </p:txBody>
      </p:sp>
    </p:spTree>
    <p:extLst>
      <p:ext uri="{BB962C8B-B14F-4D97-AF65-F5344CB8AC3E}">
        <p14:creationId xmlns:p14="http://schemas.microsoft.com/office/powerpoint/2010/main" val="2435097111"/>
      </p:ext>
    </p:extLst>
  </p:cSld>
  <p:clrMapOvr>
    <a:masterClrMapping/>
  </p:clrMapOvr>
</p:sld>
</file>

<file path=ppt/theme/theme1.xml><?xml version="1.0" encoding="utf-8"?>
<a:theme xmlns:a="http://schemas.openxmlformats.org/drawingml/2006/main" name="DividendVTI">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inimalist_Light_Sales Pitch_01_Win32_AS_v4" id="{AE3810B2-EB50-490A-9B4E-9FA07A4550C3}" vid="{D5F0F717-C359-4A2D-BDB0-CA99CA6877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35A0B9-5F49-415F-9BEE-591FDACE98D1}">
  <ds:schemaRefs>
    <ds:schemaRef ds:uri="http://schemas.microsoft.com/sharepoint/v3/contenttype/forms"/>
  </ds:schemaRefs>
</ds:datastoreItem>
</file>

<file path=customXml/itemProps2.xml><?xml version="1.0" encoding="utf-8"?>
<ds:datastoreItem xmlns:ds="http://schemas.openxmlformats.org/officeDocument/2006/customXml" ds:itemID="{ADC43B05-D266-4257-98DE-FF9D8CEDAE76}">
  <ds:schemaRef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71af3243-3dd4-4a8d-8c0d-dd76da1f02a5"/>
    <ds:schemaRef ds:uri="http://www.w3.org/XML/1998/namespace"/>
  </ds:schemaRefs>
</ds:datastoreItem>
</file>

<file path=customXml/itemProps3.xml><?xml version="1.0" encoding="utf-8"?>
<ds:datastoreItem xmlns:ds="http://schemas.openxmlformats.org/officeDocument/2006/customXml" ds:itemID="{D76AEDE5-E9AF-4E9F-97C3-19B848D35A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light sales pitch</Template>
  <TotalTime>0</TotalTime>
  <Words>1695</Words>
  <Application>Microsoft Office PowerPoint</Application>
  <PresentationFormat>Widescreen</PresentationFormat>
  <Paragraphs>97</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Bodoni SvtyTwo ITC TT-Book</vt:lpstr>
      <vt:lpstr>Calibri</vt:lpstr>
      <vt:lpstr>Consolas</vt:lpstr>
      <vt:lpstr>Garamond</vt:lpstr>
      <vt:lpstr>Helvetica Light</vt:lpstr>
      <vt:lpstr>Open Sans</vt:lpstr>
      <vt:lpstr>Wingdings 2</vt:lpstr>
      <vt:lpstr>DividendVTI</vt:lpstr>
      <vt:lpstr>BRIGHT TV Sales pitch </vt:lpstr>
      <vt:lpstr>TABLE OF CONTENTS</vt:lpstr>
      <vt:lpstr>INTRODUCTION</vt:lpstr>
      <vt:lpstr>User Engagement by Channel and Duration</vt:lpstr>
      <vt:lpstr>User Age Groups vs. Channel and Duration Preferences</vt:lpstr>
      <vt:lpstr>User Race: Channel and Duration Preferences</vt:lpstr>
      <vt:lpstr>User Province: Channel and Duration Preferences</vt:lpstr>
      <vt:lpstr>User Gender: Channel and Duration Preferences</vt:lpstr>
      <vt:lpstr>Weekly Consumption Patterns by Channel and Duration</vt:lpstr>
      <vt:lpstr>monthly Consumption Patterns by Channel and Duration</vt:lpstr>
      <vt:lpstr>Hourly Consumption Patterns by Channel and Duration</vt:lpstr>
      <vt:lpstr>RECOMMENDATIONS</vt:lpstr>
      <vt:lpstr>CONCLUSION</vt:lpstr>
      <vt:lpstr>End of the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2025-11-13T15:20:32Z</dcterms:created>
  <dcterms:modified xsi:type="dcterms:W3CDTF">2025-11-14T14:12:18Z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